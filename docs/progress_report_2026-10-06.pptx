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b1e7f90-77b6-5892-0b12-a66140dc1050}">
          <p14:sldIdLst>
            <p14:sldId id="256"/>
            <p14:sldId id="257"/>
          </p14:sldIdLst>
        </p14:section>
        <p14:section name="Method" id="{29c04c37-a464-e3f2-d5fd-264905ba3f63}">
          <p14:sldIdLst>
            <p14:sldId id="258"/>
            <p14:sldId id="259"/>
          </p14:sldIdLst>
        </p14:section>
        <p14:section name="Results" id="{97eea92b-87dd-06fb-95c2-c440c29ab9bf}">
          <p14:sldIdLst>
            <p14:sldId id="260"/>
            <p14:sldId id="261"/>
            <p14:sldId id="262"/>
            <p14:sldId id="263"/>
            <p14:sldId id="264"/>
            <p14:sldId id="265"/>
            <p14:sldId id="266"/>
          </p14:sldIdLst>
        </p14:section>
        <p14:section name="Conclusions" id="{70b8dbd0-4736-6382-cdc5-ee065da69254}">
          <p14:sldIdLst>
            <p14:sldId id="267"/>
            <p14:sldId id="268"/>
            <p14:sldId id="269"/>
          </p14:sldIdLst>
        </p14:section>
        <p14:section name="Appendix" id="{cd610dc6-5292-e9f8-2a51-1ac924e4d5d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Sharpe ratio, 1998-2025, net of costs</a:t>
            </a:r>
          </a:p>
        </c:rich>
      </c:tx>
      <c:layout/>
      <c:overlay val="0"/>
    </c:title>
    <c:autoTitleDeleted val="0"/>
    <c:plotArea>
      <c:layout/>
      <c:barChart>
        <c:barDir val="col"/>
        <c:grouping val="clustered"/>
        <c:varyColors val="0"/>
        <c:ser>
          <c:idx val="0"/>
          <c:order val="0"/>
          <c:tx>
            <c:strRef>
              <c:f>Sheet1!$B$1</c:f>
              <c:strCache>
                <c:ptCount val="1"/>
                <c:pt idx="0">
                  <c:v>Buy and hold</c:v>
                </c:pt>
              </c:strCache>
            </c:strRef>
          </c:tx>
          <c:spPr>
            <a:solidFill>
              <a:srgbClr val="8A8984"/>
            </a:solidFill>
            <a:effectLst/>
          </c:spPr>
          <c:invertIfNegative val="0"/>
          <c:dLbls>
            <c:numFmt formatCode="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Sheet1!$A$2:$A$4</c:f>
              <c:multiLvlStrCache>
                <c:ptCount val="3"/>
                <c:lvl>
                  <c:pt idx="0">
                    <c:v>Market</c:v>
                  </c:pt>
                  <c:pt idx="1">
                    <c:v>Equal weight, 6 factors</c:v>
                  </c:pt>
                  <c:pt idx="2">
                    <c:v>Mkt + RMW + CMA + Mom*</c:v>
                  </c:pt>
                </c:lvl>
              </c:multiLvlStrCache>
            </c:multiLvlStrRef>
          </c:cat>
          <c:val>
            <c:numRef>
              <c:f>Sheet1!$B$2:$B$4</c:f>
              <c:numCache>
                <c:formatCode>General</c:formatCode>
                <c:ptCount val="3"/>
                <c:pt idx="0">
                  <c:v>0.52</c:v>
                </c:pt>
                <c:pt idx="1">
                  <c:v>0.71</c:v>
                </c:pt>
                <c:pt idx="2">
                  <c:v>0.85</c:v>
                </c:pt>
              </c:numCache>
            </c:numRef>
          </c:val>
        </c:ser>
        <c:ser>
          <c:idx val="1"/>
          <c:order val="1"/>
          <c:tx>
            <c:strRef>
              <c:f>Sheet1!$C$1</c:f>
              <c:strCache>
                <c:ptCount val="1"/>
                <c:pt idx="0">
                  <c:v>Timed</c:v>
                </c:pt>
              </c:strCache>
            </c:strRef>
          </c:tx>
          <c:spPr>
            <a:solidFill>
              <a:srgbClr val="2A78D6"/>
            </a:solidFill>
            <a:effectLst/>
          </c:spPr>
          <c:invertIfNegative val="0"/>
          <c:dLbls>
            <c:numFmt formatCode="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Sheet1!$A$2:$A$4</c:f>
              <c:multiLvlStrCache>
                <c:ptCount val="3"/>
                <c:lvl>
                  <c:pt idx="0">
                    <c:v>Market</c:v>
                  </c:pt>
                  <c:pt idx="1">
                    <c:v>Equal weight, 6 factors</c:v>
                  </c:pt>
                  <c:pt idx="2">
                    <c:v>Mkt + RMW + CMA + Mom*</c:v>
                  </c:pt>
                </c:lvl>
              </c:multiLvlStrCache>
            </c:multiLvlStrRef>
          </c:cat>
          <c:val>
            <c:numRef>
              <c:f>Sheet1!$C$2:$C$4</c:f>
              <c:numCache>
                <c:formatCode>General</c:formatCode>
                <c:ptCount val="3"/>
                <c:pt idx="0">
                  <c:v>0.61</c:v>
                </c:pt>
                <c:pt idx="1">
                  <c:v>0.75</c:v>
                </c:pt>
                <c:pt idx="2">
                  <c:v>1.04</c:v>
                </c:pt>
              </c:numCache>
            </c:numRef>
          </c:val>
        </c:ser>
        <c:dLbls>
          <c:numFmt formatCode="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CEB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Sharpe gain: decision-trained minus accuracy-trained GARCH-LSTM</a:t>
            </a:r>
          </a:p>
        </c:rich>
      </c:tx>
      <c:layout/>
      <c:overlay val="0"/>
    </c:title>
    <c:autoTitleDeleted val="0"/>
    <c:plotArea>
      <c:layout/>
      <c:barChart>
        <c:barDir val="col"/>
        <c:grouping val="clustered"/>
        <c:varyColors val="0"/>
        <c:ser>
          <c:idx val="0"/>
          <c:order val="0"/>
          <c:tx>
            <c:strRef>
              <c:f>Sheet1!$B$1</c:f>
              <c:strCache>
                <c:ptCount val="1"/>
                <c:pt idx="0">
                  <c:v>Sharpe gain</c:v>
                </c:pt>
              </c:strCache>
            </c:strRef>
          </c:tx>
          <c:spPr>
            <a:solidFill>
              <a:srgbClr val="2A78D6"/>
            </a:solidFill>
            <a:effectLst/>
          </c:spPr>
          <c:invertIfNegative val="0"/>
          <c:dLbls>
            <c:numFmt formatCode="+0.0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Sheet1!$A$2:$A$7</c:f>
              <c:multiLvlStrCache>
                <c:ptCount val="6"/>
                <c:lvl>
                  <c:pt idx="0">
                    <c:v>Mkt</c:v>
                  </c:pt>
                  <c:pt idx="1">
                    <c:v>SMB</c:v>
                  </c:pt>
                  <c:pt idx="2">
                    <c:v>HML</c:v>
                  </c:pt>
                  <c:pt idx="3">
                    <c:v>RMW</c:v>
                  </c:pt>
                  <c:pt idx="4">
                    <c:v>CMA</c:v>
                  </c:pt>
                  <c:pt idx="5">
                    <c:v>Mom</c:v>
                  </c:pt>
                </c:lvl>
              </c:multiLvlStrCache>
            </c:multiLvlStrRef>
          </c:cat>
          <c:val>
            <c:numRef>
              <c:f>Sheet1!$B$2:$B$7</c:f>
              <c:numCache>
                <c:formatCode>General</c:formatCode>
                <c:ptCount val="6"/>
                <c:pt idx="0">
                  <c:v>0.02</c:v>
                </c:pt>
                <c:pt idx="1">
                  <c:v>0.03</c:v>
                </c:pt>
                <c:pt idx="2">
                  <c:v>0.1</c:v>
                </c:pt>
                <c:pt idx="3">
                  <c:v>0.12</c:v>
                </c:pt>
                <c:pt idx="4">
                  <c:v>0.11</c:v>
                </c:pt>
                <c:pt idx="5">
                  <c:v>-0.01</c:v>
                </c:pt>
              </c:numCache>
            </c:numRef>
          </c:val>
        </c:ser>
        <c:dLbls>
          <c:numFmt formatCode="+0.0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0.15"/>
          <c:min val="-0.05"/>
        </c:scaling>
        <c:delete val="0"/>
        <c:axPos val="l"/>
        <c:majorGridlines>
          <c:spPr>
            <a:ln w="9525" cap="flat">
              <a:solidFill>
                <a:srgbClr val="ECEB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Today I will show where our project stands. Our main pipeline is finished and the protocol is frozen, so I will go through our main results, what we can and cannot claim, and what we plan before the final submission. Every number I show is net of trading costs and computed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three findings so far. Our question was whether better volatility forecasts, or decision-focused training, give better portfolios. What we find is that the forecasting side does its job: risk goes down. But the Sharpe ratio also depends on returns, and volatility forecasts cut exposure exactly in the months when returns are high. The gains we do see were there before 2016 and mostly disappear after. And once we correct for the number of tests we ran, only volatility-managed momentum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test everything. We forecast variance with a GARCH model that is refit every January using only past data. Exposure is c divided by the forecast. c only sets the scale: it does not change the Sharpe ratio by itself, but with a leverage cap and costs the level matters, so every January we set c so that the timed portfolio has the same volatility as buy and hold over the past. We cap exposure at 1.5 as in Moreira and Muir, and we charge 10 basis points per unit of exposure change. We fixed all of this in a spec file before the final run, so we could not tune it after seeing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of our project. We can write the Sharpe ratio of the timed strategy over buy and hold as MT times VT. VT asks whether exposure cuts risk; MT asks whether exposure is high in the months that pay well. Theory says the optimal exposure is mu over gamma sigma squared. Volatility timing assumes mu is constant. If it is, the most accurate variance forecast is also the best one for the portfolio, and decision-focused training has nothing to add. It can only help if the model is misspecified, if mu moves over time, or through frictions like the cap and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US market from 1998 to 2025. Timing cuts the worst drawdown in half, from minus 50 to minus 25 percent, and this holds almost everywhere we look. The Sharpe ratio goes from 0.52 to 0.61, but the 95 percent interval includes zero. Look at the middle panel: exposure was 0.14 at the March 2009 bottom and 0.03 in April 2020, right before the two biggest rebounds. That is where the return side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why better forecasts do not help. We move from last month's realised variance to GARCH, GJR and finally VIX squared, which are better and better risk forecasts. VT, the blue bars, stays high. But MT, the orange bars, falls from 1.01 to 0.90. A sharper forecast cuts high-volatility months harder, and those months also have high expected returns. VIX squared is the extreme case: it contains a variance risk premium that is high exactly when expected returns are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found that allocation matters more than timing. Going from the market alone to an equal-weight mix of the six factors adds about 0.20 of Sharpe; timing that mix adds only 0.03. Our best mix, market plus profitability, investment and momentum, looks very good when timed, 1.04 against 0.85. But I want to be clear that we picked it with hindsight: it is number one of 63 mixes after 1998 but only number 14 before 1998, and its timing gain after 2016 is just 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that this is not a US artefact, we ran the same rule on two independent international data sets: the JKP global factor data and Ken French's regional factors. The pattern is the same everywhere. The blue dots, 1998 to 2015, are positive; the orange dots, 2016 to 2025, are around zero or negative. Momentum holds up best, and in the JKP data its gain after 2016 is still significant. This fits a story of publication or crowding after 2017, but we have not tested that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direct test of decision-focused learning. We trained the same models two ways: on forecast accuracy, by quasi maximum likelihood, and on the utility of the portfolio after costs. The decision-trained network gains about 0.1 of Sharpe on HML, RMW and CMA and nothing elsewhere, and none of the 36 tests survives correction. The decision-trained forecasts are also 1.2 to 3.5 times worse as variance forecasts. That is what our theory predicts when the mean is roughly constant: the decision loss has nothing extra to learn, so it just bends the variance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mechanism behind the lost mean timing. We split months by volatility in real time. Panic means volatility is high and still rising; recovery means it is high but already falling. Recovery months pay about 1.6 percent a month, the most of any state, yet the timed strategy holds only 0.35 exposure in them. We wrote this rule down before testing it and first tested it on untouched 1975 to 2007 data. A simple fix, holding at least full exposure in recovery months, is positive but small, because these months are rare, they are the riskiest months, and the 1.6 percent is estimated with a lot of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tried many things, we corrected for multiple testing. Out of 296 timing comparisons, 41 are significant at 5 percent, but about 15 would be expected by luck alone. After Benjamini-Hochberg, Holm or Romano-Wolf, only one survives: volatility-managed momentum in France. Under our two robustness specifications three survive, all of them momentum in Europe, which is consistent with Barroso and Santa-Clara on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our honest scorecard. We can say that volatility timing reliably cuts drawdowns, that its Sharpe gains were positive before 2016 in three data sets, that better forecasts do not give a better Sharpe ratio because MT falls as VT rises, and that volatility-managed momentum is the closest to robust. We cannot say that timing beats buy and hold after 2016, that our best mix is special, or that decision-focused training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next steps. First, I want to test whether our best factor mix is robust, by bootstrapping the ranking of all 63 mixes and checking where the same mix ranks abroad. Steps two and three are the natural continuation of the mechanism we found, and I explain them with the math on the next slide. Finally, we will re-run the network training once to confirm it, and then write the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these two steps with the math. Step two needs no learning. Today our rule is w equals c over the variance forecast, which assumes the expected return is the same every month. The theory says the optimal exposure is mu over gamma sigma squared, so if recovery months have a higher mu, we should multiply exposure in those months by how much more they pay, m. As an example, recovery months earn about two and a half times a normal month, so exposure would go from 0.35 to about 0.9, still below the cap. To keep the test clean, we estimate m only on data before 1975 and run it once. Step three is where decision-focused learning can actually help. The accuracy loss only uses squared returns, so it can only ever learn the variance. A decision loss uses the portfolio return itself, so it can learn when the expected return is high, but only if the model is given an input that carries that information. So we add a small state term g with two parameters, one for panic months and one for recovery months, train it on the portfolio objective before 1998, and test it after. This also explains our earlier result: the network only had volatility inputs, so the decision loss could only distort the variance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backup slide in case you ask about our parameter choices. All the main numbers come from the main specification. Our two alternative specifications, with our earlier settings and with no leverage cap, give the same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337560"/>
            <a:ext cx="11094415" cy="2377440"/>
          </a:xfrm>
          <a:prstGeom prst="rect">
            <a:avLst/>
          </a:prstGeom>
          <a:noFill/>
          <a:ln/>
        </p:spPr>
        <p:txBody>
          <a:bodyPr wrap="square" rtlCol="0"/>
          <a:lstStyle>
            <a:lvl1pPr indent="0" marL="0">
              <a:buNone/>
              <a:defRPr lang="en-US" sz="1800" dirty="0">
                <a:solidFill>
                  <a:srgbClr val="CADC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2514E"/>
                </a:solidFill>
              </a:rPr>
              <a:t>Decision-Focused Volatility Timing  |  Progress report, 6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Decision-Focused Volatility Timing</a:t>
            </a:r>
            <a:endParaRPr lang="en-US" sz="4400" dirty="0"/>
          </a:p>
        </p:txBody>
      </p:sp>
      <p:sp>
        <p:nvSpPr>
          <p:cNvPr id="3" name="Text 0"/>
          <p:cNvSpPr/>
          <p:nvPr>
            <p:ph idx="101" type="body" hasCustomPrompt="1"/>
          </p:nvPr>
        </p:nvSpPr>
        <p:spPr>
          <a:xfrm>
            <a:off x="548640" y="3337560"/>
            <a:ext cx="11094415" cy="2377440"/>
          </a:xfrm>
          <a:prstGeom prst="rect">
            <a:avLst/>
          </a:prstGeom>
          <a:noFill/>
          <a:ln/>
        </p:spPr>
        <p:txBody>
          <a:bodyPr wrap="square" lIns="0" tIns="0" rIns="0" bIns="0" rtlCol="0" anchor="t"/>
          <a:lstStyle/>
          <a:p>
            <a:pPr indent="0" marL="0">
              <a:buNone/>
            </a:pPr>
            <a:r>
              <a:rPr lang="en-US" sz="2000" dirty="0">
                <a:solidFill>
                  <a:srgbClr val="FFFFFF"/>
                </a:solidFill>
              </a:rPr>
              <a:t>Do better volatility forecasts make volatility-managed portfolios better?</a:t>
            </a:r>
            <a:endParaRPr lang="en-US" sz="1800" dirty="0"/>
          </a:p>
          <a:p>
            <a:pPr indent="0" marL="0">
              <a:buNone/>
            </a:pPr>
            <a:r>
              <a:rPr lang="en-US" sz="1200" dirty="0">
                <a:solidFill>
                  <a:srgbClr val="CADCFC"/>
                </a:solidFill>
              </a:rPr>
              <a:t> </a:t>
            </a:r>
            <a:endParaRPr lang="en-US" sz="1800" dirty="0"/>
          </a:p>
          <a:p>
            <a:pPr indent="0" marL="0">
              <a:buNone/>
            </a:pPr>
            <a:r>
              <a:rPr lang="en-US" sz="1800" dirty="0">
                <a:solidFill>
                  <a:srgbClr val="CADCFC"/>
                </a:solidFill>
              </a:rPr>
              <a:t>Progress report  |  6 October 2026</a:t>
            </a:r>
            <a:endParaRPr lang="en-US" sz="1800" dirty="0"/>
          </a:p>
          <a:p>
            <a:pPr indent="0" marL="0">
              <a:buNone/>
            </a:pPr>
            <a:r>
              <a:rPr lang="en-US" sz="1800" dirty="0">
                <a:solidFill>
                  <a:srgbClr val="CADCFC"/>
                </a:solidFill>
              </a:rPr>
              <a:t>Ayush Roy, Farres, Robin  |  Introduction to Financial Engineering, Hanyang University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Three findings so far</a:t>
            </a:r>
            <a:endParaRPr lang="en-US" sz="3600" dirty="0"/>
          </a:p>
        </p:txBody>
      </p:sp>
      <p:sp>
        <p:nvSpPr>
          <p:cNvPr id="3" name="finding 1"/>
          <p:cNvSpPr/>
          <p:nvPr/>
        </p:nvSpPr>
        <p:spPr>
          <a:xfrm>
            <a:off x="548640" y="1417320"/>
            <a:ext cx="3566160" cy="3657600"/>
          </a:xfrm>
          <a:prstGeom prst="roundRect">
            <a:avLst>
              <a:gd name="adj" fmla="val 2564"/>
            </a:avLst>
          </a:prstGeom>
          <a:solidFill>
            <a:srgbClr val="F1F3F7"/>
          </a:solidFill>
          <a:ln w="12700">
            <a:solidFill>
              <a:srgbClr val="F1F3F7"/>
            </a:solidFill>
            <a:prstDash val="solid"/>
          </a:ln>
        </p:spPr>
      </p:sp>
      <p:sp>
        <p:nvSpPr>
          <p:cNvPr id="4" name="Shape 2"/>
          <p:cNvSpPr/>
          <p:nvPr/>
        </p:nvSpPr>
        <p:spPr>
          <a:xfrm>
            <a:off x="822960" y="1691640"/>
            <a:ext cx="457200" cy="457200"/>
          </a:xfrm>
          <a:prstGeom prst="ellipse">
            <a:avLst/>
          </a:prstGeom>
          <a:solidFill>
            <a:srgbClr val="EB6834"/>
          </a:solidFill>
          <a:ln w="12700">
            <a:solidFill>
              <a:srgbClr val="EB6834"/>
            </a:solidFill>
            <a:prstDash val="solid"/>
          </a:ln>
        </p:spPr>
      </p:sp>
      <p:sp>
        <p:nvSpPr>
          <p:cNvPr id="5" name="Text 3"/>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822960" y="2331720"/>
            <a:ext cx="3017520" cy="8686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The risk side works, the return side leaks</a:t>
            </a:r>
            <a:endParaRPr lang="en-US" sz="2000" dirty="0"/>
          </a:p>
        </p:txBody>
      </p:sp>
      <p:sp>
        <p:nvSpPr>
          <p:cNvPr id="7" name="Text 5"/>
          <p:cNvSpPr txBox="1"/>
          <p:nvPr/>
        </p:nvSpPr>
        <p:spPr>
          <a:xfrm>
            <a:off x="822960" y="3246120"/>
            <a:ext cx="3017520" cy="1737360"/>
          </a:xfrm>
          <a:prstGeom prst="rect">
            <a:avLst/>
          </a:prstGeom>
          <a:noFill/>
          <a:ln/>
        </p:spPr>
        <p:txBody>
          <a:bodyPr wrap="square" lIns="0" tIns="0" rIns="0" bIns="0" rtlCol="0" anchor="t"/>
          <a:lstStyle/>
          <a:p>
            <a:pPr indent="0" marL="0">
              <a:buNone/>
            </a:pPr>
            <a:r>
              <a:rPr lang="en-US" sz="1500" dirty="0">
                <a:solidFill>
                  <a:srgbClr val="52514E"/>
                </a:solidFill>
              </a:rPr>
              <a:t>Timing always improves variance timing (VT about 1.25), but better forecasts lower mean timing: MT falls from 1.01 (realised variance) to 0.90 (VIX²).</a:t>
            </a:r>
            <a:endParaRPr lang="en-US" sz="1500" dirty="0"/>
          </a:p>
        </p:txBody>
      </p:sp>
      <p:sp>
        <p:nvSpPr>
          <p:cNvPr id="8" name="finding 2"/>
          <p:cNvSpPr/>
          <p:nvPr/>
        </p:nvSpPr>
        <p:spPr>
          <a:xfrm>
            <a:off x="4315968" y="1417320"/>
            <a:ext cx="3566160" cy="3657600"/>
          </a:xfrm>
          <a:prstGeom prst="roundRect">
            <a:avLst>
              <a:gd name="adj" fmla="val 2564"/>
            </a:avLst>
          </a:prstGeom>
          <a:solidFill>
            <a:srgbClr val="F1F3F7"/>
          </a:solidFill>
          <a:ln w="12700">
            <a:solidFill>
              <a:srgbClr val="F1F3F7"/>
            </a:solidFill>
            <a:prstDash val="solid"/>
          </a:ln>
        </p:spPr>
      </p:sp>
      <p:sp>
        <p:nvSpPr>
          <p:cNvPr id="9" name="Shape 7"/>
          <p:cNvSpPr/>
          <p:nvPr/>
        </p:nvSpPr>
        <p:spPr>
          <a:xfrm>
            <a:off x="4590288" y="1691640"/>
            <a:ext cx="457200" cy="457200"/>
          </a:xfrm>
          <a:prstGeom prst="ellipse">
            <a:avLst/>
          </a:prstGeom>
          <a:solidFill>
            <a:srgbClr val="EB6834"/>
          </a:solidFill>
          <a:ln w="12700">
            <a:solidFill>
              <a:srgbClr val="EB6834"/>
            </a:solidFill>
            <a:prstDash val="solid"/>
          </a:ln>
        </p:spPr>
      </p:sp>
      <p:sp>
        <p:nvSpPr>
          <p:cNvPr id="10" name="Text 8"/>
          <p:cNvSpPr txBox="1"/>
          <p:nvPr/>
        </p:nvSpPr>
        <p:spPr>
          <a:xfrm>
            <a:off x="4590288"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4590288" y="2331720"/>
            <a:ext cx="3017520" cy="8686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The gain is a pre-2016 result</a:t>
            </a:r>
            <a:endParaRPr lang="en-US" sz="2000" dirty="0"/>
          </a:p>
        </p:txBody>
      </p:sp>
      <p:sp>
        <p:nvSpPr>
          <p:cNvPr id="12" name="Text 10"/>
          <p:cNvSpPr txBox="1"/>
          <p:nvPr/>
        </p:nvSpPr>
        <p:spPr>
          <a:xfrm>
            <a:off x="4590288" y="3246120"/>
            <a:ext cx="3017520" cy="1737360"/>
          </a:xfrm>
          <a:prstGeom prst="rect">
            <a:avLst/>
          </a:prstGeom>
          <a:noFill/>
          <a:ln/>
        </p:spPr>
        <p:txBody>
          <a:bodyPr wrap="square" lIns="0" tIns="0" rIns="0" bIns="0" rtlCol="0" anchor="t"/>
          <a:lstStyle/>
          <a:p>
            <a:pPr indent="0" marL="0">
              <a:buNone/>
            </a:pPr>
            <a:r>
              <a:rPr lang="en-US" sz="1500" dirty="0">
                <a:solidFill>
                  <a:srgbClr val="52514E"/>
                </a:solidFill>
              </a:rPr>
              <a:t>Same rule on US, JKP (7 regions) and Ken French (3 regions) data: positive in 1998-2015, about zero or negative in 2016-2025.</a:t>
            </a:r>
            <a:endParaRPr lang="en-US" sz="1500" dirty="0"/>
          </a:p>
        </p:txBody>
      </p:sp>
      <p:sp>
        <p:nvSpPr>
          <p:cNvPr id="13" name="finding 3"/>
          <p:cNvSpPr/>
          <p:nvPr/>
        </p:nvSpPr>
        <p:spPr>
          <a:xfrm>
            <a:off x="8083296" y="1417320"/>
            <a:ext cx="3566160" cy="3657600"/>
          </a:xfrm>
          <a:prstGeom prst="roundRect">
            <a:avLst>
              <a:gd name="adj" fmla="val 2564"/>
            </a:avLst>
          </a:prstGeom>
          <a:solidFill>
            <a:srgbClr val="F1F3F7"/>
          </a:solidFill>
          <a:ln w="12700">
            <a:solidFill>
              <a:srgbClr val="F1F3F7"/>
            </a:solidFill>
            <a:prstDash val="solid"/>
          </a:ln>
        </p:spPr>
      </p:sp>
      <p:sp>
        <p:nvSpPr>
          <p:cNvPr id="14" name="Shape 12"/>
          <p:cNvSpPr/>
          <p:nvPr/>
        </p:nvSpPr>
        <p:spPr>
          <a:xfrm>
            <a:off x="8357616" y="1691640"/>
            <a:ext cx="457200" cy="457200"/>
          </a:xfrm>
          <a:prstGeom prst="ellipse">
            <a:avLst/>
          </a:prstGeom>
          <a:solidFill>
            <a:srgbClr val="EB6834"/>
          </a:solidFill>
          <a:ln w="12700">
            <a:solidFill>
              <a:srgbClr val="EB6834"/>
            </a:solidFill>
            <a:prstDash val="solid"/>
          </a:ln>
        </p:spPr>
      </p:sp>
      <p:sp>
        <p:nvSpPr>
          <p:cNvPr id="15" name="Text 13"/>
          <p:cNvSpPr txBox="1"/>
          <p:nvPr/>
        </p:nvSpPr>
        <p:spPr>
          <a:xfrm>
            <a:off x="8357616"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8357616" y="2331720"/>
            <a:ext cx="3017520" cy="8686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Little survives multiple testing</a:t>
            </a:r>
            <a:endParaRPr lang="en-US" sz="2000" dirty="0"/>
          </a:p>
        </p:txBody>
      </p:sp>
      <p:sp>
        <p:nvSpPr>
          <p:cNvPr id="17" name="Text 15"/>
          <p:cNvSpPr txBox="1"/>
          <p:nvPr/>
        </p:nvSpPr>
        <p:spPr>
          <a:xfrm>
            <a:off x="8357616" y="3246120"/>
            <a:ext cx="3017520" cy="1737360"/>
          </a:xfrm>
          <a:prstGeom prst="rect">
            <a:avLst/>
          </a:prstGeom>
          <a:noFill/>
          <a:ln/>
        </p:spPr>
        <p:txBody>
          <a:bodyPr wrap="square" lIns="0" tIns="0" rIns="0" bIns="0" rtlCol="0" anchor="t"/>
          <a:lstStyle/>
          <a:p>
            <a:pPr indent="0" marL="0">
              <a:buNone/>
            </a:pPr>
            <a:r>
              <a:rPr lang="en-US" sz="1500" dirty="0">
                <a:solidFill>
                  <a:srgbClr val="52514E"/>
                </a:solidFill>
              </a:rPr>
              <a:t>296 timing comparisons, 41 nominally significant (15 expected by luck), 1 survives Romano-Wolf: vol-managed momentum.</a:t>
            </a:r>
            <a:endParaRPr lang="en-US" sz="1500" dirty="0"/>
          </a:p>
        </p:txBody>
      </p:sp>
      <p:sp>
        <p:nvSpPr>
          <p:cNvPr id="18" name="Text 16"/>
          <p:cNvSpPr txBox="1"/>
          <p:nvPr/>
        </p:nvSpPr>
        <p:spPr>
          <a:xfrm>
            <a:off x="548640" y="5349240"/>
            <a:ext cx="11094415" cy="731520"/>
          </a:xfrm>
          <a:prstGeom prst="rect">
            <a:avLst/>
          </a:prstGeom>
          <a:noFill/>
          <a:ln/>
        </p:spPr>
        <p:txBody>
          <a:bodyPr wrap="square" lIns="0" tIns="0" rIns="0" bIns="0" rtlCol="0" anchor="t"/>
          <a:lstStyle/>
          <a:p>
            <a:pPr indent="0" marL="0">
              <a:buNone/>
            </a:pPr>
            <a:r>
              <a:rPr lang="en-US" sz="1600" b="1" dirty="0">
                <a:solidFill>
                  <a:srgbClr val="14213D"/>
                </a:solidFill>
              </a:rPr>
              <a:t>So what for decision-focused learning: </a:t>
            </a:r>
            <a:pPr indent="0" marL="0">
              <a:buNone/>
            </a:pPr>
            <a:r>
              <a:rPr lang="en-US" sz="1600" dirty="0">
                <a:solidFill>
                  <a:srgbClr val="14213D"/>
                </a:solidFill>
              </a:rPr>
              <a:t>a decision loss can only beat an accuracy loss where the expected return moves. We have located where it moves (recovery months).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frozen protocol, all in real time</a:t>
            </a:r>
            <a:endParaRPr lang="en-US" sz="3600" dirty="0"/>
          </a:p>
        </p:txBody>
      </p:sp>
      <p:sp>
        <p:nvSpPr>
          <p:cNvPr id="3" name="step Forecast"/>
          <p:cNvSpPr/>
          <p:nvPr/>
        </p:nvSpPr>
        <p:spPr>
          <a:xfrm>
            <a:off x="548640" y="1463040"/>
            <a:ext cx="2606040" cy="2880360"/>
          </a:xfrm>
          <a:prstGeom prst="roundRect">
            <a:avLst>
              <a:gd name="adj" fmla="val 3509"/>
            </a:avLst>
          </a:prstGeom>
          <a:solidFill>
            <a:srgbClr val="F1F3F7"/>
          </a:solidFill>
          <a:ln w="12700">
            <a:solidFill>
              <a:srgbClr val="F1F3F7"/>
            </a:solidFill>
            <a:prstDash val="solid"/>
          </a:ln>
        </p:spPr>
      </p:sp>
      <p:sp>
        <p:nvSpPr>
          <p:cNvPr id="4" name="Shape 2"/>
          <p:cNvSpPr/>
          <p:nvPr/>
        </p:nvSpPr>
        <p:spPr>
          <a:xfrm>
            <a:off x="777240" y="1691640"/>
            <a:ext cx="457200" cy="457200"/>
          </a:xfrm>
          <a:prstGeom prst="ellipse">
            <a:avLst/>
          </a:prstGeom>
          <a:solidFill>
            <a:srgbClr val="2A78D6"/>
          </a:solidFill>
          <a:ln w="12700">
            <a:solidFill>
              <a:srgbClr val="2A78D6"/>
            </a:solidFill>
            <a:prstDash val="solid"/>
          </a:ln>
        </p:spPr>
      </p:sp>
      <p:sp>
        <p:nvSpPr>
          <p:cNvPr id="5" name="Text 3"/>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777240" y="2286000"/>
            <a:ext cx="21945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Forecast</a:t>
            </a:r>
            <a:endParaRPr lang="en-US" sz="2000" dirty="0"/>
          </a:p>
        </p:txBody>
      </p:sp>
      <p:sp>
        <p:nvSpPr>
          <p:cNvPr id="7" name="Text 5"/>
          <p:cNvSpPr txBox="1"/>
          <p:nvPr/>
        </p:nvSpPr>
        <p:spPr>
          <a:xfrm>
            <a:off x="777240" y="2788920"/>
            <a:ext cx="2194560" cy="1508760"/>
          </a:xfrm>
          <a:prstGeom prst="rect">
            <a:avLst/>
          </a:prstGeom>
          <a:noFill/>
          <a:ln/>
        </p:spPr>
        <p:txBody>
          <a:bodyPr wrap="square" lIns="0" tIns="0" rIns="0" bIns="0" rtlCol="0" anchor="t"/>
          <a:lstStyle/>
          <a:p>
            <a:pPr indent="0" marL="0">
              <a:buNone/>
            </a:pPr>
            <a:r>
              <a:rPr lang="en-US" sz="1400" dirty="0">
                <a:solidFill>
                  <a:srgbClr val="52514E"/>
                </a:solidFill>
              </a:rPr>
              <a:t>GARCH(1,1) on daily returns, refit every January on an expanding window. Monthly variance = sum of 21 daily forecasts.</a:t>
            </a:r>
            <a:endParaRPr lang="en-US" sz="1400" dirty="0"/>
          </a:p>
        </p:txBody>
      </p:sp>
      <p:sp>
        <p:nvSpPr>
          <p:cNvPr id="8" name="step Exposure"/>
          <p:cNvSpPr/>
          <p:nvPr/>
        </p:nvSpPr>
        <p:spPr>
          <a:xfrm>
            <a:off x="3383280" y="1463040"/>
            <a:ext cx="2606040" cy="2880360"/>
          </a:xfrm>
          <a:prstGeom prst="roundRect">
            <a:avLst>
              <a:gd name="adj" fmla="val 3509"/>
            </a:avLst>
          </a:prstGeom>
          <a:solidFill>
            <a:srgbClr val="F1F3F7"/>
          </a:solidFill>
          <a:ln w="12700">
            <a:solidFill>
              <a:srgbClr val="F1F3F7"/>
            </a:solidFill>
            <a:prstDash val="solid"/>
          </a:ln>
        </p:spPr>
      </p:sp>
      <p:sp>
        <p:nvSpPr>
          <p:cNvPr id="9" name="Shape 7"/>
          <p:cNvSpPr/>
          <p:nvPr/>
        </p:nvSpPr>
        <p:spPr>
          <a:xfrm>
            <a:off x="3611880" y="1691640"/>
            <a:ext cx="457200" cy="457200"/>
          </a:xfrm>
          <a:prstGeom prst="ellipse">
            <a:avLst/>
          </a:prstGeom>
          <a:solidFill>
            <a:srgbClr val="2A78D6"/>
          </a:solidFill>
          <a:ln w="12700">
            <a:solidFill>
              <a:srgbClr val="2A78D6"/>
            </a:solidFill>
            <a:prstDash val="solid"/>
          </a:ln>
        </p:spPr>
      </p:sp>
      <p:sp>
        <p:nvSpPr>
          <p:cNvPr id="10" name="Text 8"/>
          <p:cNvSpPr txBox="1"/>
          <p:nvPr/>
        </p:nvSpPr>
        <p:spPr>
          <a:xfrm>
            <a:off x="361188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3611880" y="2286000"/>
            <a:ext cx="21945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Exposure</a:t>
            </a:r>
            <a:endParaRPr lang="en-US" sz="2000" dirty="0"/>
          </a:p>
        </p:txBody>
      </p:sp>
      <p:sp>
        <p:nvSpPr>
          <p:cNvPr id="12" name="Text 10"/>
          <p:cNvSpPr txBox="1"/>
          <p:nvPr/>
        </p:nvSpPr>
        <p:spPr>
          <a:xfrm>
            <a:off x="3611880" y="2788920"/>
            <a:ext cx="2194560" cy="1508760"/>
          </a:xfrm>
          <a:prstGeom prst="rect">
            <a:avLst/>
          </a:prstGeom>
          <a:noFill/>
          <a:ln/>
        </p:spPr>
        <p:txBody>
          <a:bodyPr wrap="square" lIns="0" tIns="0" rIns="0" bIns="0" rtlCol="0" anchor="t"/>
          <a:lstStyle/>
          <a:p>
            <a:pPr indent="0" marL="0">
              <a:buNone/>
            </a:pPr>
            <a:r>
              <a:rPr lang="en-US" sz="1400" dirty="0">
                <a:solidFill>
                  <a:srgbClr val="52514E"/>
                </a:solidFill>
              </a:rPr>
              <a:t>w = c / v̂. Each January c is re-set on past months so the timed series matches buy-and-hold volatility. Cap 1.5.</a:t>
            </a:r>
            <a:endParaRPr lang="en-US" sz="1400" dirty="0"/>
          </a:p>
        </p:txBody>
      </p:sp>
      <p:sp>
        <p:nvSpPr>
          <p:cNvPr id="13" name="step Trade"/>
          <p:cNvSpPr/>
          <p:nvPr/>
        </p:nvSpPr>
        <p:spPr>
          <a:xfrm>
            <a:off x="6217920" y="1463040"/>
            <a:ext cx="2606040" cy="2880360"/>
          </a:xfrm>
          <a:prstGeom prst="roundRect">
            <a:avLst>
              <a:gd name="adj" fmla="val 3509"/>
            </a:avLst>
          </a:prstGeom>
          <a:solidFill>
            <a:srgbClr val="F1F3F7"/>
          </a:solidFill>
          <a:ln w="12700">
            <a:solidFill>
              <a:srgbClr val="F1F3F7"/>
            </a:solidFill>
            <a:prstDash val="solid"/>
          </a:ln>
        </p:spPr>
      </p:sp>
      <p:sp>
        <p:nvSpPr>
          <p:cNvPr id="14" name="Shape 12"/>
          <p:cNvSpPr/>
          <p:nvPr/>
        </p:nvSpPr>
        <p:spPr>
          <a:xfrm>
            <a:off x="6446520" y="1691640"/>
            <a:ext cx="457200" cy="457200"/>
          </a:xfrm>
          <a:prstGeom prst="ellipse">
            <a:avLst/>
          </a:prstGeom>
          <a:solidFill>
            <a:srgbClr val="2A78D6"/>
          </a:solidFill>
          <a:ln w="12700">
            <a:solidFill>
              <a:srgbClr val="2A78D6"/>
            </a:solidFill>
            <a:prstDash val="solid"/>
          </a:ln>
        </p:spPr>
      </p:sp>
      <p:sp>
        <p:nvSpPr>
          <p:cNvPr id="15" name="Text 13"/>
          <p:cNvSpPr txBox="1"/>
          <p:nvPr/>
        </p:nvSpPr>
        <p:spPr>
          <a:xfrm>
            <a:off x="644652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6446520" y="2286000"/>
            <a:ext cx="21945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Trade</a:t>
            </a:r>
            <a:endParaRPr lang="en-US" sz="2000" dirty="0"/>
          </a:p>
        </p:txBody>
      </p:sp>
      <p:sp>
        <p:nvSpPr>
          <p:cNvPr id="17" name="Text 15"/>
          <p:cNvSpPr txBox="1"/>
          <p:nvPr/>
        </p:nvSpPr>
        <p:spPr>
          <a:xfrm>
            <a:off x="6446520" y="2788920"/>
            <a:ext cx="2194560" cy="1508760"/>
          </a:xfrm>
          <a:prstGeom prst="rect">
            <a:avLst/>
          </a:prstGeom>
          <a:noFill/>
          <a:ln/>
        </p:spPr>
        <p:txBody>
          <a:bodyPr wrap="square" lIns="0" tIns="0" rIns="0" bIns="0" rtlCol="0" anchor="t"/>
          <a:lstStyle/>
          <a:p>
            <a:pPr indent="0" marL="0">
              <a:buNone/>
            </a:pPr>
            <a:r>
              <a:rPr lang="en-US" sz="1400" dirty="0">
                <a:solidFill>
                  <a:srgbClr val="52514E"/>
                </a:solidFill>
              </a:rPr>
              <a:t>Monthly rebalancing. 10 bp per unit of exposure change, measured after the portfolio drifts.</a:t>
            </a:r>
            <a:endParaRPr lang="en-US" sz="1400" dirty="0"/>
          </a:p>
        </p:txBody>
      </p:sp>
      <p:sp>
        <p:nvSpPr>
          <p:cNvPr id="18" name="step Test"/>
          <p:cNvSpPr/>
          <p:nvPr/>
        </p:nvSpPr>
        <p:spPr>
          <a:xfrm>
            <a:off x="9052560" y="1463040"/>
            <a:ext cx="2606040" cy="2880360"/>
          </a:xfrm>
          <a:prstGeom prst="roundRect">
            <a:avLst>
              <a:gd name="adj" fmla="val 3509"/>
            </a:avLst>
          </a:prstGeom>
          <a:solidFill>
            <a:srgbClr val="F1F3F7"/>
          </a:solidFill>
          <a:ln w="12700">
            <a:solidFill>
              <a:srgbClr val="F1F3F7"/>
            </a:solidFill>
            <a:prstDash val="solid"/>
          </a:ln>
        </p:spPr>
      </p:sp>
      <p:sp>
        <p:nvSpPr>
          <p:cNvPr id="19" name="Shape 17"/>
          <p:cNvSpPr/>
          <p:nvPr/>
        </p:nvSpPr>
        <p:spPr>
          <a:xfrm>
            <a:off x="9281160" y="1691640"/>
            <a:ext cx="457200" cy="457200"/>
          </a:xfrm>
          <a:prstGeom prst="ellipse">
            <a:avLst/>
          </a:prstGeom>
          <a:solidFill>
            <a:srgbClr val="2A78D6"/>
          </a:solidFill>
          <a:ln w="12700">
            <a:solidFill>
              <a:srgbClr val="2A78D6"/>
            </a:solidFill>
            <a:prstDash val="solid"/>
          </a:ln>
        </p:spPr>
      </p:sp>
      <p:sp>
        <p:nvSpPr>
          <p:cNvPr id="20" name="Text 18"/>
          <p:cNvSpPr txBox="1"/>
          <p:nvPr/>
        </p:nvSpPr>
        <p:spPr>
          <a:xfrm>
            <a:off x="928116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9281160" y="2286000"/>
            <a:ext cx="219456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Test</a:t>
            </a:r>
            <a:endParaRPr lang="en-US" sz="2000" dirty="0"/>
          </a:p>
        </p:txBody>
      </p:sp>
      <p:sp>
        <p:nvSpPr>
          <p:cNvPr id="22" name="Text 20"/>
          <p:cNvSpPr txBox="1"/>
          <p:nvPr/>
        </p:nvSpPr>
        <p:spPr>
          <a:xfrm>
            <a:off x="9281160" y="2788920"/>
            <a:ext cx="2194560" cy="1508760"/>
          </a:xfrm>
          <a:prstGeom prst="rect">
            <a:avLst/>
          </a:prstGeom>
          <a:noFill/>
          <a:ln/>
        </p:spPr>
        <p:txBody>
          <a:bodyPr wrap="square" lIns="0" tIns="0" rIns="0" bIns="0" rtlCol="0" anchor="t"/>
          <a:lstStyle/>
          <a:p>
            <a:pPr indent="0" marL="0">
              <a:buNone/>
            </a:pPr>
            <a:r>
              <a:rPr lang="en-US" sz="1400" dirty="0">
                <a:solidFill>
                  <a:srgbClr val="52514E"/>
                </a:solidFill>
              </a:rPr>
              <a:t>Sharpe gain with a 12-month block bootstrap (5,000 draws), Cederburg real-time combination, Holm / BH / Romano-Wolf.</a:t>
            </a:r>
            <a:endParaRPr lang="en-US" sz="1400" dirty="0"/>
          </a:p>
        </p:txBody>
      </p:sp>
      <p:sp>
        <p:nvSpPr>
          <p:cNvPr id="23" name="Text 21"/>
          <p:cNvSpPr txBox="1"/>
          <p:nvPr/>
        </p:nvSpPr>
        <p:spPr>
          <a:xfrm>
            <a:off x="548640" y="4617720"/>
            <a:ext cx="11094415" cy="1645920"/>
          </a:xfrm>
          <a:prstGeom prst="rect">
            <a:avLst/>
          </a:prstGeom>
          <a:noFill/>
          <a:ln/>
        </p:spPr>
        <p:txBody>
          <a:bodyPr wrap="square" lIns="0" tIns="0" rIns="0" bIns="0" rtlCol="0" anchor="t"/>
          <a:lstStyle/>
          <a:p>
            <a:pPr indent="0" marL="0">
              <a:spcAft>
                <a:spcPts val="600"/>
              </a:spcAft>
              <a:buNone/>
            </a:pPr>
            <a:r>
              <a:rPr lang="en-US" sz="1500" b="1" dirty="0">
                <a:solidFill>
                  <a:srgbClr val="14213D"/>
                </a:solidFill>
              </a:rPr>
              <a:t>Data. </a:t>
            </a:r>
            <a:pPr indent="0" marL="0">
              <a:spcAft>
                <a:spcPts val="600"/>
              </a:spcAft>
              <a:buNone/>
            </a:pPr>
            <a:r>
              <a:rPr lang="en-US" sz="1500" dirty="0">
                <a:solidFill>
                  <a:srgbClr val="14213D"/>
                </a:solidFill>
              </a:rPr>
              <a:t>Ken French US: 6 factors + 10 industries, 1963-2025. JKP Global Factor Data: 8 regions. Ken French regional factors: 6 regions.</a:t>
            </a:r>
            <a:endParaRPr lang="en-US" sz="1500" dirty="0"/>
          </a:p>
          <a:p>
            <a:pPr indent="0" marL="0">
              <a:spcAft>
                <a:spcPts val="600"/>
              </a:spcAft>
              <a:buNone/>
            </a:pPr>
            <a:r>
              <a:rPr lang="en-US" sz="1500" b="1" dirty="0">
                <a:solidFill>
                  <a:srgbClr val="14213D"/>
                </a:solidFill>
              </a:rPr>
              <a:t>Samples. </a:t>
            </a:r>
            <a:pPr indent="0" marL="0">
              <a:spcAft>
                <a:spcPts val="600"/>
              </a:spcAft>
              <a:buNone/>
            </a:pPr>
            <a:r>
              <a:rPr lang="en-US" sz="1500" dirty="0">
                <a:solidFill>
                  <a:srgbClr val="14213D"/>
                </a:solidFill>
              </a:rPr>
              <a:t>Main 1998-2025; splits 1998-2015, 2016-2025, 2021-2025. Everything before a date uses only data before that date.</a:t>
            </a:r>
            <a:endParaRPr lang="en-US" sz="1500" dirty="0"/>
          </a:p>
          <a:p>
            <a:pPr indent="0" marL="0">
              <a:spcAft>
                <a:spcPts val="600"/>
              </a:spcAft>
              <a:buNone/>
            </a:pPr>
            <a:r>
              <a:rPr lang="en-US" sz="1500" b="1" dirty="0">
                <a:solidFill>
                  <a:srgbClr val="14213D"/>
                </a:solidFill>
              </a:rPr>
              <a:t>Frozen. </a:t>
            </a:r>
            <a:pPr indent="0" marL="0">
              <a:spcAft>
                <a:spcPts val="600"/>
              </a:spcAft>
              <a:buNone/>
            </a:pPr>
            <a:r>
              <a:rPr lang="en-US" sz="1500" dirty="0">
                <a:solidFill>
                  <a:srgbClr val="14213D"/>
                </a:solidFill>
              </a:rPr>
              <a:t>Costs, c rule, cap, periods and tests were fixed in SPEC.md before the final run; two robustness specs (old, uncapped).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Why better forecasts need not pay</a:t>
            </a:r>
            <a:endParaRPr lang="en-US" sz="3600" dirty="0"/>
          </a:p>
        </p:txBody>
      </p:sp>
      <p:sp>
        <p:nvSpPr>
          <p:cNvPr id="3" name="Text 1"/>
          <p:cNvSpPr txBox="1"/>
          <p:nvPr/>
        </p:nvSpPr>
        <p:spPr>
          <a:xfrm>
            <a:off x="548640" y="1463040"/>
            <a:ext cx="6766560" cy="640080"/>
          </a:xfrm>
          <a:prstGeom prst="rect">
            <a:avLst/>
          </a:prstGeom>
          <a:noFill/>
          <a:ln/>
        </p:spPr>
        <p:txBody>
          <a:bodyPr wrap="square" lIns="0" tIns="0" rIns="0" bIns="0" rtlCol="0" anchor="t"/>
          <a:lstStyle/>
          <a:p>
            <a:pPr indent="0" marL="0">
              <a:buNone/>
            </a:pPr>
            <a:r>
              <a:rPr lang="en-US" sz="2100" b="1" dirty="0">
                <a:solidFill>
                  <a:srgbClr val="2A78D6"/>
                </a:solidFill>
                <a:latin typeface="Cambria" pitchFamily="34" charset="0"/>
                <a:ea typeface="Cambria" pitchFamily="34" charset="-122"/>
                <a:cs typeface="Cambria" pitchFamily="34" charset="-120"/>
              </a:rPr>
              <a:t>Sharpe(timed) / Sharpe(buy and hold)  =  MT  ×  VT</a:t>
            </a:r>
            <a:endParaRPr lang="en-US" sz="2100" dirty="0"/>
          </a:p>
        </p:txBody>
      </p:sp>
      <p:sp>
        <p:nvSpPr>
          <p:cNvPr id="4" name="Text 2"/>
          <p:cNvSpPr txBox="1"/>
          <p:nvPr/>
        </p:nvSpPr>
        <p:spPr>
          <a:xfrm>
            <a:off x="548640" y="2286000"/>
            <a:ext cx="6400800" cy="2743200"/>
          </a:xfrm>
          <a:prstGeom prst="rect">
            <a:avLst/>
          </a:prstGeom>
          <a:noFill/>
          <a:ln/>
        </p:spPr>
        <p:txBody>
          <a:bodyPr wrap="square" lIns="0" tIns="0" rIns="0" bIns="0" rtlCol="0" anchor="t"/>
          <a:lstStyle/>
          <a:p>
            <a:pPr indent="0" marL="0">
              <a:buNone/>
            </a:pPr>
            <a:r>
              <a:rPr lang="en-US" sz="1700" b="1" dirty="0">
                <a:solidFill>
                  <a:srgbClr val="14213D"/>
                </a:solidFill>
              </a:rPr>
              <a:t>MT, mean timing = E[xR] / E[R]</a:t>
            </a:r>
            <a:endParaRPr lang="en-US" sz="1700" dirty="0"/>
          </a:p>
          <a:p>
            <a:pPr indent="0" marL="0">
              <a:buNone/>
            </a:pPr>
            <a:r>
              <a:rPr lang="en-US" sz="1700" dirty="0">
                <a:solidFill>
                  <a:srgbClr val="52514E"/>
                </a:solidFill>
              </a:rPr>
              <a:t>Is exposure high in months that pay well? Above 1 is good.</a:t>
            </a:r>
            <a:endParaRPr lang="en-US" sz="1700" dirty="0"/>
          </a:p>
          <a:p>
            <a:pPr indent="0" marL="0">
              <a:buNone/>
            </a:pPr>
            <a:r>
              <a:rPr lang="en-US" sz="800" dirty="0">
                <a:solidFill>
                  <a:srgbClr val="14213D"/>
                </a:solidFill>
              </a:rPr>
              <a:t> </a:t>
            </a:r>
            <a:endParaRPr lang="en-US" sz="1700" dirty="0"/>
          </a:p>
          <a:p>
            <a:pPr indent="0" marL="0">
              <a:buNone/>
            </a:pPr>
            <a:r>
              <a:rPr lang="en-US" sz="1700" b="1" dirty="0">
                <a:solidFill>
                  <a:srgbClr val="14213D"/>
                </a:solidFill>
              </a:rPr>
              <a:t>VT, variance timing = sd(R) / sd(xR)</a:t>
            </a:r>
            <a:endParaRPr lang="en-US" sz="1700" dirty="0"/>
          </a:p>
          <a:p>
            <a:pPr indent="0" marL="0">
              <a:buNone/>
            </a:pPr>
            <a:r>
              <a:rPr lang="en-US" sz="1700" dirty="0">
                <a:solidFill>
                  <a:srgbClr val="52514E"/>
                </a:solidFill>
              </a:rPr>
              <a:t>Does exposure cut risk? Above 1 is good.</a:t>
            </a:r>
            <a:endParaRPr lang="en-US" sz="1700" dirty="0"/>
          </a:p>
          <a:p>
            <a:pPr indent="0" marL="0">
              <a:buNone/>
            </a:pPr>
            <a:r>
              <a:rPr lang="en-US" sz="800" dirty="0">
                <a:solidFill>
                  <a:srgbClr val="14213D"/>
                </a:solidFill>
              </a:rPr>
              <a:t> </a:t>
            </a:r>
            <a:endParaRPr lang="en-US" sz="1700" dirty="0"/>
          </a:p>
          <a:p>
            <a:pPr indent="0" marL="0">
              <a:buNone/>
            </a:pPr>
            <a:r>
              <a:rPr lang="en-US" sz="1300" i="1" dirty="0">
                <a:solidFill>
                  <a:srgbClr val="52514E"/>
                </a:solidFill>
              </a:rPr>
              <a:t>x = exposure scaled to mean 1, R = monthly excess return.</a:t>
            </a:r>
            <a:endParaRPr lang="en-US" sz="1700" dirty="0"/>
          </a:p>
        </p:txBody>
      </p:sp>
      <p:sp>
        <p:nvSpPr>
          <p:cNvPr id="5" name="theory box"/>
          <p:cNvSpPr/>
          <p:nvPr/>
        </p:nvSpPr>
        <p:spPr>
          <a:xfrm>
            <a:off x="7498080" y="1417320"/>
            <a:ext cx="4142232" cy="3840480"/>
          </a:xfrm>
          <a:prstGeom prst="roundRect">
            <a:avLst>
              <a:gd name="adj" fmla="val 2381"/>
            </a:avLst>
          </a:prstGeom>
          <a:solidFill>
            <a:srgbClr val="14213D"/>
          </a:solidFill>
          <a:ln w="12700">
            <a:solidFill>
              <a:srgbClr val="14213D"/>
            </a:solidFill>
            <a:prstDash val="solid"/>
          </a:ln>
        </p:spPr>
      </p:sp>
      <p:sp>
        <p:nvSpPr>
          <p:cNvPr id="6" name="Text 4"/>
          <p:cNvSpPr txBox="1"/>
          <p:nvPr/>
        </p:nvSpPr>
        <p:spPr>
          <a:xfrm>
            <a:off x="7772400" y="1645920"/>
            <a:ext cx="365760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theory</a:t>
            </a:r>
            <a:endParaRPr lang="en-US" sz="2000" dirty="0"/>
          </a:p>
        </p:txBody>
      </p:sp>
      <p:sp>
        <p:nvSpPr>
          <p:cNvPr id="7" name="Text 5"/>
          <p:cNvSpPr txBox="1"/>
          <p:nvPr/>
        </p:nvSpPr>
        <p:spPr>
          <a:xfrm>
            <a:off x="7772400" y="2194560"/>
            <a:ext cx="3611880" cy="3657600"/>
          </a:xfrm>
          <a:prstGeom prst="rect">
            <a:avLst/>
          </a:prstGeom>
          <a:noFill/>
          <a:ln/>
        </p:spPr>
        <p:txBody>
          <a:bodyPr wrap="square" lIns="0" tIns="0" rIns="0" bIns="0" rtlCol="0" anchor="t"/>
          <a:lstStyle/>
          <a:p>
            <a:pPr indent="0" marL="0">
              <a:buNone/>
            </a:pPr>
            <a:r>
              <a:rPr lang="en-US" sz="1500" dirty="0">
                <a:solidFill>
                  <a:srgbClr val="FFFFFF"/>
                </a:solidFill>
              </a:rPr>
              <a:t>Optimal exposure is w = μ / (γσ²).</a:t>
            </a:r>
            <a:endParaRPr lang="en-US" sz="1500" dirty="0"/>
          </a:p>
          <a:p>
            <a:pPr indent="0" marL="0">
              <a:buNone/>
            </a:pPr>
            <a:r>
              <a:rPr lang="en-US" sz="600" dirty="0">
                <a:solidFill>
                  <a:srgbClr val="FFFFFF"/>
                </a:solidFill>
              </a:rPr>
              <a:t> </a:t>
            </a:r>
            <a:endParaRPr lang="en-US" sz="1500" dirty="0"/>
          </a:p>
          <a:p>
            <a:pPr indent="0" marL="0">
              <a:buNone/>
            </a:pPr>
            <a:r>
              <a:rPr lang="en-US" sz="1500" dirty="0">
                <a:solidFill>
                  <a:srgbClr val="FFFFFF"/>
                </a:solidFill>
              </a:rPr>
              <a:t>If μ is constant, w ∝ 1/σ²: an accuracy loss (QMLE) and a decision loss aim at the same target.</a:t>
            </a:r>
            <a:endParaRPr lang="en-US" sz="1500" dirty="0"/>
          </a:p>
          <a:p>
            <a:pPr indent="0" marL="0">
              <a:buNone/>
            </a:pPr>
            <a:r>
              <a:rPr lang="en-US" sz="600" dirty="0">
                <a:solidFill>
                  <a:srgbClr val="FFFFFF"/>
                </a:solidFill>
              </a:rPr>
              <a:t> </a:t>
            </a:r>
            <a:endParaRPr lang="en-US" sz="1500" dirty="0"/>
          </a:p>
          <a:p>
            <a:pPr indent="0" marL="0">
              <a:buNone/>
            </a:pPr>
            <a:r>
              <a:rPr lang="en-US" sz="1500" b="1" dirty="0">
                <a:solidFill>
                  <a:srgbClr val="FFFFFF"/>
                </a:solidFill>
              </a:rPr>
              <a:t>So decision-focused training can only win through:</a:t>
            </a:r>
            <a:endParaRPr lang="en-US" sz="1500" dirty="0"/>
          </a:p>
          <a:p>
            <a:pPr marL="342900" indent="-342900">
              <a:spcAft>
                <a:spcPts val="600"/>
              </a:spcAft>
              <a:buSzPct val="100000"/>
              <a:buChar char="•"/>
            </a:pPr>
            <a:r>
              <a:rPr lang="en-US" sz="1500" dirty="0">
                <a:solidFill>
                  <a:srgbClr val="FFFFFF"/>
                </a:solidFill>
              </a:rPr>
              <a:t>a misspecified forecast model</a:t>
            </a:r>
            <a:endParaRPr lang="en-US" sz="1500" dirty="0"/>
          </a:p>
          <a:p>
            <a:pPr marL="342900" indent="-342900">
              <a:spcAft>
                <a:spcPts val="600"/>
              </a:spcAft>
              <a:buSzPct val="100000"/>
              <a:buChar char="•"/>
            </a:pPr>
            <a:r>
              <a:rPr lang="en-US" sz="1500" dirty="0">
                <a:solidFill>
                  <a:srgbClr val="FFFFFF"/>
                </a:solidFill>
              </a:rPr>
              <a:t>a time-varying expected return μ</a:t>
            </a:r>
            <a:endParaRPr lang="en-US" sz="1500" dirty="0"/>
          </a:p>
          <a:p>
            <a:pPr marL="342900" indent="-342900">
              <a:spcAft>
                <a:spcPts val="600"/>
              </a:spcAft>
              <a:buSzPct val="100000"/>
              <a:buChar char="•"/>
            </a:pPr>
            <a:r>
              <a:rPr lang="en-US" sz="1500" dirty="0">
                <a:solidFill>
                  <a:srgbClr val="FFFFFF"/>
                </a:solidFill>
              </a:rPr>
              <a:t>frictions: the cap and trading costs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US market: smaller drawdowns, little Sharpe</a:t>
            </a:r>
            <a:endParaRPr lang="en-US" sz="3600" dirty="0"/>
          </a:p>
        </p:txBody>
      </p:sp>
      <p:pic>
        <p:nvPicPr>
          <p:cNvPr id="3" name="US market figure" descr="/tmp/claude-0/-home-claude/21a3796a-06b6-5326-b452-bfe32377a75f/scratchpad/final-version/figures/slides/fig1_us_market.png">    </p:cNvPr>
          <p:cNvPicPr>
            <a:picLocks noChangeAspect="1"/>
          </p:cNvPicPr>
          <p:nvPr/>
        </p:nvPicPr>
        <p:blipFill>
          <a:blip r:embed="rId1"/>
          <a:stretch>
            <a:fillRect/>
          </a:stretch>
        </p:blipFill>
        <p:spPr>
          <a:xfrm>
            <a:off x="548640" y="1234440"/>
            <a:ext cx="6172200" cy="4937760"/>
          </a:xfrm>
          <a:prstGeom prst="rect">
            <a:avLst/>
          </a:prstGeom>
        </p:spPr>
      </p:pic>
      <p:sp>
        <p:nvSpPr>
          <p:cNvPr id="4" name="Shape 1"/>
          <p:cNvSpPr/>
          <p:nvPr/>
        </p:nvSpPr>
        <p:spPr>
          <a:xfrm>
            <a:off x="7086600" y="1371600"/>
            <a:ext cx="4553712" cy="1078992"/>
          </a:xfrm>
          <a:prstGeom prst="roundRect">
            <a:avLst>
              <a:gd name="adj" fmla="val 6780"/>
            </a:avLst>
          </a:prstGeom>
          <a:solidFill>
            <a:srgbClr val="F1F3F7"/>
          </a:solidFill>
          <a:ln w="12700">
            <a:solidFill>
              <a:srgbClr val="F1F3F7"/>
            </a:solidFill>
            <a:prstDash val="solid"/>
          </a:ln>
        </p:spPr>
      </p:sp>
      <p:sp>
        <p:nvSpPr>
          <p:cNvPr id="5" name="Text 2"/>
          <p:cNvSpPr txBox="1"/>
          <p:nvPr/>
        </p:nvSpPr>
        <p:spPr>
          <a:xfrm>
            <a:off x="7269480" y="1463040"/>
            <a:ext cx="4187952" cy="566928"/>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0.52 → 0.61</a:t>
            </a:r>
            <a:endParaRPr lang="en-US" sz="2800" dirty="0"/>
          </a:p>
        </p:txBody>
      </p:sp>
      <p:sp>
        <p:nvSpPr>
          <p:cNvPr id="6" name="Text 3"/>
          <p:cNvSpPr txBox="1"/>
          <p:nvPr/>
        </p:nvSpPr>
        <p:spPr>
          <a:xfrm>
            <a:off x="7269480" y="2029968"/>
            <a:ext cx="4187952" cy="365760"/>
          </a:xfrm>
          <a:prstGeom prst="rect">
            <a:avLst/>
          </a:prstGeom>
          <a:noFill/>
          <a:ln/>
        </p:spPr>
        <p:txBody>
          <a:bodyPr wrap="square" lIns="0" tIns="0" rIns="0" bIns="0" rtlCol="0" anchor="t"/>
          <a:lstStyle/>
          <a:p>
            <a:pPr indent="0" marL="0">
              <a:buNone/>
            </a:pPr>
            <a:r>
              <a:rPr lang="en-US" sz="1200" dirty="0">
                <a:solidFill>
                  <a:srgbClr val="52514E"/>
                </a:solidFill>
              </a:rPr>
              <a:t>Sharpe ratio, buy and hold → timed (MM on GARCH), 1998-2025</a:t>
            </a:r>
            <a:endParaRPr lang="en-US" sz="1200" dirty="0"/>
          </a:p>
        </p:txBody>
      </p:sp>
      <p:sp>
        <p:nvSpPr>
          <p:cNvPr id="7" name="Shape 4"/>
          <p:cNvSpPr/>
          <p:nvPr/>
        </p:nvSpPr>
        <p:spPr>
          <a:xfrm>
            <a:off x="7086600" y="2606040"/>
            <a:ext cx="4553712" cy="1078992"/>
          </a:xfrm>
          <a:prstGeom prst="roundRect">
            <a:avLst>
              <a:gd name="adj" fmla="val 6780"/>
            </a:avLst>
          </a:prstGeom>
          <a:solidFill>
            <a:srgbClr val="F1F3F7"/>
          </a:solidFill>
          <a:ln w="12700">
            <a:solidFill>
              <a:srgbClr val="F1F3F7"/>
            </a:solidFill>
            <a:prstDash val="solid"/>
          </a:ln>
        </p:spPr>
      </p:sp>
      <p:sp>
        <p:nvSpPr>
          <p:cNvPr id="8" name="Text 5"/>
          <p:cNvSpPr txBox="1"/>
          <p:nvPr/>
        </p:nvSpPr>
        <p:spPr>
          <a:xfrm>
            <a:off x="7269480" y="2697480"/>
            <a:ext cx="4187952" cy="566928"/>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+0.09  [−0.13, +0.33]</a:t>
            </a:r>
            <a:endParaRPr lang="en-US" sz="2800" dirty="0"/>
          </a:p>
        </p:txBody>
      </p:sp>
      <p:sp>
        <p:nvSpPr>
          <p:cNvPr id="9" name="Text 6"/>
          <p:cNvSpPr txBox="1"/>
          <p:nvPr/>
        </p:nvSpPr>
        <p:spPr>
          <a:xfrm>
            <a:off x="7269480" y="3264408"/>
            <a:ext cx="4187952" cy="365760"/>
          </a:xfrm>
          <a:prstGeom prst="rect">
            <a:avLst/>
          </a:prstGeom>
          <a:noFill/>
          <a:ln/>
        </p:spPr>
        <p:txBody>
          <a:bodyPr wrap="square" lIns="0" tIns="0" rIns="0" bIns="0" rtlCol="0" anchor="t"/>
          <a:lstStyle/>
          <a:p>
            <a:pPr indent="0" marL="0">
              <a:buNone/>
            </a:pPr>
            <a:r>
              <a:rPr lang="en-US" sz="1200" dirty="0">
                <a:solidFill>
                  <a:srgbClr val="52514E"/>
                </a:solidFill>
              </a:rPr>
              <a:t>Sharpe gain with 95% bootstrap interval: not significant</a:t>
            </a:r>
            <a:endParaRPr lang="en-US" sz="1200" dirty="0"/>
          </a:p>
        </p:txBody>
      </p:sp>
      <p:sp>
        <p:nvSpPr>
          <p:cNvPr id="10" name="Shape 7"/>
          <p:cNvSpPr/>
          <p:nvPr/>
        </p:nvSpPr>
        <p:spPr>
          <a:xfrm>
            <a:off x="7086600" y="3840480"/>
            <a:ext cx="4553712" cy="1078992"/>
          </a:xfrm>
          <a:prstGeom prst="roundRect">
            <a:avLst>
              <a:gd name="adj" fmla="val 6780"/>
            </a:avLst>
          </a:prstGeom>
          <a:solidFill>
            <a:srgbClr val="F1F3F7"/>
          </a:solidFill>
          <a:ln w="12700">
            <a:solidFill>
              <a:srgbClr val="F1F3F7"/>
            </a:solidFill>
            <a:prstDash val="solid"/>
          </a:ln>
        </p:spPr>
      </p:sp>
      <p:sp>
        <p:nvSpPr>
          <p:cNvPr id="11" name="Text 8"/>
          <p:cNvSpPr txBox="1"/>
          <p:nvPr/>
        </p:nvSpPr>
        <p:spPr>
          <a:xfrm>
            <a:off x="7269480" y="3931920"/>
            <a:ext cx="4187952" cy="566928"/>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−50% → −25%</a:t>
            </a:r>
            <a:endParaRPr lang="en-US" sz="2800" dirty="0"/>
          </a:p>
        </p:txBody>
      </p:sp>
      <p:sp>
        <p:nvSpPr>
          <p:cNvPr id="12" name="Text 9"/>
          <p:cNvSpPr txBox="1"/>
          <p:nvPr/>
        </p:nvSpPr>
        <p:spPr>
          <a:xfrm>
            <a:off x="7269480" y="4498848"/>
            <a:ext cx="4187952" cy="365760"/>
          </a:xfrm>
          <a:prstGeom prst="rect">
            <a:avLst/>
          </a:prstGeom>
          <a:noFill/>
          <a:ln/>
        </p:spPr>
        <p:txBody>
          <a:bodyPr wrap="square" lIns="0" tIns="0" rIns="0" bIns="0" rtlCol="0" anchor="t"/>
          <a:lstStyle/>
          <a:p>
            <a:pPr indent="0" marL="0">
              <a:buNone/>
            </a:pPr>
            <a:r>
              <a:rPr lang="en-US" sz="1200" dirty="0">
                <a:solidFill>
                  <a:srgbClr val="52514E"/>
                </a:solidFill>
              </a:rPr>
              <a:t>Maximum drawdown: halved</a:t>
            </a:r>
            <a:endParaRPr lang="en-US" sz="1200" dirty="0"/>
          </a:p>
        </p:txBody>
      </p:sp>
      <p:sp>
        <p:nvSpPr>
          <p:cNvPr id="13" name="Text 10"/>
          <p:cNvSpPr txBox="1"/>
          <p:nvPr/>
        </p:nvSpPr>
        <p:spPr>
          <a:xfrm>
            <a:off x="7086600" y="5120640"/>
            <a:ext cx="4553712" cy="1097280"/>
          </a:xfrm>
          <a:prstGeom prst="rect">
            <a:avLst/>
          </a:prstGeom>
          <a:noFill/>
          <a:ln/>
        </p:spPr>
        <p:txBody>
          <a:bodyPr wrap="square" lIns="0" tIns="0" rIns="0" bIns="0" rtlCol="0" anchor="t"/>
          <a:lstStyle/>
          <a:p>
            <a:pPr indent="0" marL="0">
              <a:buNone/>
            </a:pPr>
            <a:r>
              <a:rPr lang="en-US" sz="1400" dirty="0">
                <a:solidFill>
                  <a:srgbClr val="52514E"/>
                </a:solidFill>
              </a:rPr>
              <a:t>Exposure was 0.14 at the March 2009 bottom and 0.03 in April 2020, just before the two largest rebounds. The Cederburg real-time combination gains +0.00.</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Better forecasts lose mean timing</a:t>
            </a:r>
            <a:endParaRPr lang="en-US" sz="3600" dirty="0"/>
          </a:p>
        </p:txBody>
      </p:sp>
      <p:pic>
        <p:nvPicPr>
          <p:cNvPr id="3" name="MT VT figure" descr="/tmp/claude-0/-home-claude/21a3796a-06b6-5326-b452-bfe32377a75f/scratchpad/final-version/figures/slides/fig2_mt_vt.png">    </p:cNvPr>
          <p:cNvPicPr>
            <a:picLocks noChangeAspect="1"/>
          </p:cNvPicPr>
          <p:nvPr/>
        </p:nvPicPr>
        <p:blipFill>
          <a:blip r:embed="rId1"/>
          <a:stretch>
            <a:fillRect/>
          </a:stretch>
        </p:blipFill>
        <p:spPr>
          <a:xfrm>
            <a:off x="1005840" y="1234440"/>
            <a:ext cx="10149840" cy="4359897"/>
          </a:xfrm>
          <a:prstGeom prst="rect">
            <a:avLst/>
          </a:prstGeom>
        </p:spPr>
      </p:pic>
      <p:sp>
        <p:nvSpPr>
          <p:cNvPr id="4" name="Text 1"/>
          <p:cNvSpPr txBox="1"/>
          <p:nvPr/>
        </p:nvSpPr>
        <p:spPr>
          <a:xfrm>
            <a:off x="548640" y="5669280"/>
            <a:ext cx="11094415" cy="685800"/>
          </a:xfrm>
          <a:prstGeom prst="rect">
            <a:avLst/>
          </a:prstGeom>
          <a:noFill/>
          <a:ln/>
        </p:spPr>
        <p:txBody>
          <a:bodyPr wrap="square" lIns="0" tIns="0" rIns="0" bIns="0" rtlCol="0" anchor="t"/>
          <a:lstStyle/>
          <a:p>
            <a:pPr indent="0" marL="0">
              <a:buNone/>
            </a:pPr>
            <a:r>
              <a:rPr lang="en-US" sz="1500" b="1" dirty="0">
                <a:solidFill>
                  <a:srgbClr val="14213D"/>
                </a:solidFill>
              </a:rPr>
              <a:t>Reading: </a:t>
            </a:r>
            <a:pPr indent="0" marL="0">
              <a:buNone/>
            </a:pPr>
            <a:r>
              <a:rPr lang="en-US" sz="1500" dirty="0">
                <a:solidFill>
                  <a:srgbClr val="14213D"/>
                </a:solidFill>
              </a:rPr>
              <a:t>moving from last month's realised variance to GARCH, GJR and VIX², the forecast gets better and VT rises, but MT falls from 1.01 to 0.90. The sharper the forecast, the harder it cuts high-volatility months, which are also high-return months.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Allocation does more than timing</a:t>
            </a:r>
            <a:endParaRPr lang="en-US" sz="3600" dirty="0"/>
          </a:p>
        </p:txBody>
      </p:sp>
      <p:graphicFrame>
        <p:nvGraphicFramePr>
          <p:cNvPr id="3" name="Chart 0" descr=""/>
          <p:cNvGraphicFramePr/>
          <p:nvPr/>
        </p:nvGraphicFramePr>
        <p:xfrm>
          <a:off x="548640" y="128016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371600"/>
            <a:ext cx="4142232" cy="1078992"/>
          </a:xfrm>
          <a:prstGeom prst="roundRect">
            <a:avLst>
              <a:gd name="adj" fmla="val 6780"/>
            </a:avLst>
          </a:prstGeom>
          <a:solidFill>
            <a:srgbClr val="F1F3F7"/>
          </a:solidFill>
          <a:ln w="12700">
            <a:solidFill>
              <a:srgbClr val="F1F3F7"/>
            </a:solidFill>
            <a:prstDash val="solid"/>
          </a:ln>
        </p:spPr>
      </p:sp>
      <p:sp>
        <p:nvSpPr>
          <p:cNvPr id="5" name="Text 2"/>
          <p:cNvSpPr txBox="1"/>
          <p:nvPr/>
        </p:nvSpPr>
        <p:spPr>
          <a:xfrm>
            <a:off x="7680960" y="1463040"/>
            <a:ext cx="3776472" cy="566928"/>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+0.20 vs +0.03</a:t>
            </a:r>
            <a:endParaRPr lang="en-US" sz="2800" dirty="0"/>
          </a:p>
        </p:txBody>
      </p:sp>
      <p:sp>
        <p:nvSpPr>
          <p:cNvPr id="6" name="Text 3"/>
          <p:cNvSpPr txBox="1"/>
          <p:nvPr/>
        </p:nvSpPr>
        <p:spPr>
          <a:xfrm>
            <a:off x="7680960" y="2029968"/>
            <a:ext cx="3776472" cy="365760"/>
          </a:xfrm>
          <a:prstGeom prst="rect">
            <a:avLst/>
          </a:prstGeom>
          <a:noFill/>
          <a:ln/>
        </p:spPr>
        <p:txBody>
          <a:bodyPr wrap="square" lIns="0" tIns="0" rIns="0" bIns="0" rtlCol="0" anchor="t"/>
          <a:lstStyle/>
          <a:p>
            <a:pPr indent="0" marL="0">
              <a:buNone/>
            </a:pPr>
            <a:r>
              <a:rPr lang="en-US" sz="1200" dirty="0">
                <a:solidFill>
                  <a:srgbClr val="52514E"/>
                </a:solidFill>
              </a:rPr>
              <a:t>Sharpe gain from diversifying into 6 factors vs from timing that mix</a:t>
            </a:r>
            <a:endParaRPr lang="en-US" sz="1200" dirty="0"/>
          </a:p>
        </p:txBody>
      </p:sp>
      <p:sp>
        <p:nvSpPr>
          <p:cNvPr id="7" name="Shape 4"/>
          <p:cNvSpPr/>
          <p:nvPr/>
        </p:nvSpPr>
        <p:spPr>
          <a:xfrm>
            <a:off x="7498080" y="2606040"/>
            <a:ext cx="4142232" cy="1078992"/>
          </a:xfrm>
          <a:prstGeom prst="roundRect">
            <a:avLst>
              <a:gd name="adj" fmla="val 6780"/>
            </a:avLst>
          </a:prstGeom>
          <a:solidFill>
            <a:srgbClr val="F1F3F7"/>
          </a:solidFill>
          <a:ln w="12700">
            <a:solidFill>
              <a:srgbClr val="F1F3F7"/>
            </a:solidFill>
            <a:prstDash val="solid"/>
          </a:ln>
        </p:spPr>
      </p:sp>
      <p:sp>
        <p:nvSpPr>
          <p:cNvPr id="8" name="Text 5"/>
          <p:cNvSpPr txBox="1"/>
          <p:nvPr/>
        </p:nvSpPr>
        <p:spPr>
          <a:xfrm>
            <a:off x="7680960" y="2697480"/>
            <a:ext cx="3776472" cy="566928"/>
          </a:xfrm>
          <a:prstGeom prst="rect">
            <a:avLst/>
          </a:prstGeom>
          <a:noFill/>
          <a:ln/>
        </p:spPr>
        <p:txBody>
          <a:bodyPr wrap="square" lIns="0" tIns="0" rIns="0" bIns="0" rtlCol="0" anchor="ctr"/>
          <a:lstStyle/>
          <a:p>
            <a:pPr indent="0" marL="0">
              <a:buNone/>
            </a:pPr>
            <a:r>
              <a:rPr lang="en-US" sz="2800" b="1" dirty="0">
                <a:solidFill>
                  <a:srgbClr val="2A78D6"/>
                </a:solidFill>
                <a:latin typeface="Cambria" pitchFamily="34" charset="0"/>
                <a:ea typeface="Cambria" pitchFamily="34" charset="-122"/>
                <a:cs typeface="Cambria" pitchFamily="34" charset="-120"/>
              </a:rPr>
              <a:t>+0.19  [−0.05, +0.42]</a:t>
            </a:r>
            <a:endParaRPr lang="en-US" sz="2800" dirty="0"/>
          </a:p>
        </p:txBody>
      </p:sp>
      <p:sp>
        <p:nvSpPr>
          <p:cNvPr id="9" name="Text 6"/>
          <p:cNvSpPr txBox="1"/>
          <p:nvPr/>
        </p:nvSpPr>
        <p:spPr>
          <a:xfrm>
            <a:off x="7680960" y="3264408"/>
            <a:ext cx="3776472" cy="365760"/>
          </a:xfrm>
          <a:prstGeom prst="rect">
            <a:avLst/>
          </a:prstGeom>
          <a:noFill/>
          <a:ln/>
        </p:spPr>
        <p:txBody>
          <a:bodyPr wrap="square" lIns="0" tIns="0" rIns="0" bIns="0" rtlCol="0" anchor="t"/>
          <a:lstStyle/>
          <a:p>
            <a:pPr indent="0" marL="0">
              <a:buNone/>
            </a:pPr>
            <a:r>
              <a:rPr lang="en-US" sz="1200" dirty="0">
                <a:solidFill>
                  <a:srgbClr val="52514E"/>
                </a:solidFill>
              </a:rPr>
              <a:t>Timing gain on the best mix; +0.03 after 2016</a:t>
            </a:r>
            <a:endParaRPr lang="en-US" sz="1200" dirty="0"/>
          </a:p>
        </p:txBody>
      </p:sp>
      <p:sp>
        <p:nvSpPr>
          <p:cNvPr id="10" name="Text 7"/>
          <p:cNvSpPr txBox="1"/>
          <p:nvPr/>
        </p:nvSpPr>
        <p:spPr>
          <a:xfrm>
            <a:off x="7498080" y="3977640"/>
            <a:ext cx="4142232" cy="1280160"/>
          </a:xfrm>
          <a:prstGeom prst="rect">
            <a:avLst/>
          </a:prstGeom>
          <a:noFill/>
          <a:ln/>
        </p:spPr>
        <p:txBody>
          <a:bodyPr wrap="square" lIns="0" tIns="0" rIns="0" bIns="0" rtlCol="0" anchor="t"/>
          <a:lstStyle/>
          <a:p>
            <a:pPr indent="0" marL="0">
              <a:buNone/>
            </a:pPr>
            <a:r>
              <a:rPr lang="en-US" sz="1400" b="1" dirty="0">
                <a:solidFill>
                  <a:srgbClr val="52514E"/>
                </a:solidFill>
              </a:rPr>
              <a:t>* Chosen with hindsight: </a:t>
            </a:r>
            <a:pPr indent="0" marL="0">
              <a:buNone/>
            </a:pPr>
            <a:r>
              <a:rPr lang="en-US" sz="1400" dirty="0">
                <a:solidFill>
                  <a:srgbClr val="52514E"/>
                </a:solidFill>
              </a:rPr>
              <a:t>#1 of 63 equal-weight mixes in 1998-2025, only #14 before 1998. Picking the best mix in real time does not work.</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The gain fades after 2016</a:t>
            </a:r>
            <a:endParaRPr lang="en-US" sz="3600" dirty="0"/>
          </a:p>
        </p:txBody>
      </p:sp>
      <p:pic>
        <p:nvPicPr>
          <p:cNvPr id="3" name="gains by period figure" descr="/tmp/claude-0/-home-claude/21a3796a-06b6-5326-b452-bfe32377a75f/scratchpad/final-version/figures/slides/fig3_gains_by_period.png">    </p:cNvPr>
          <p:cNvPicPr>
            <a:picLocks noChangeAspect="1"/>
          </p:cNvPicPr>
          <p:nvPr/>
        </p:nvPicPr>
        <p:blipFill>
          <a:blip r:embed="rId1"/>
          <a:stretch>
            <a:fillRect/>
          </a:stretch>
        </p:blipFill>
        <p:spPr>
          <a:xfrm>
            <a:off x="914400" y="1234440"/>
            <a:ext cx="10332720" cy="4523958"/>
          </a:xfrm>
          <a:prstGeom prst="rect">
            <a:avLst/>
          </a:prstGeom>
        </p:spPr>
      </p:pic>
      <p:sp>
        <p:nvSpPr>
          <p:cNvPr id="4" name="Text 1"/>
          <p:cNvSpPr txBox="1"/>
          <p:nvPr/>
        </p:nvSpPr>
        <p:spPr>
          <a:xfrm>
            <a:off x="548640" y="5852160"/>
            <a:ext cx="11094415" cy="548640"/>
          </a:xfrm>
          <a:prstGeom prst="rect">
            <a:avLst/>
          </a:prstGeom>
          <a:noFill/>
          <a:ln/>
        </p:spPr>
        <p:txBody>
          <a:bodyPr wrap="square" lIns="0" tIns="0" rIns="0" bIns="0" rtlCol="0" anchor="t"/>
          <a:lstStyle/>
          <a:p>
            <a:pPr indent="0" marL="0">
              <a:buNone/>
            </a:pPr>
            <a:r>
              <a:rPr lang="en-US" sz="1500" b="1" dirty="0">
                <a:solidFill>
                  <a:srgbClr val="14213D"/>
                </a:solidFill>
              </a:rPr>
              <a:t>Two independent international data sets tell the same story as the US. </a:t>
            </a:r>
            <a:pPr indent="0" marL="0">
              <a:buNone/>
            </a:pPr>
            <a:r>
              <a:rPr lang="en-US" sz="1500" dirty="0">
                <a:solidFill>
                  <a:srgbClr val="14213D"/>
                </a:solidFill>
              </a:rPr>
              <a:t>Every mix gains in 1998-2015 and loses the gain in 2016-2025. Vol-managed momentum holds up best (JKP: +0.17 [+0.02, +0.32] after 2016).</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Decision-focused training: no clear gain</a:t>
            </a:r>
            <a:endParaRPr lang="en-US" sz="3600" dirty="0"/>
          </a:p>
        </p:txBody>
      </p:sp>
      <p:graphicFrame>
        <p:nvGraphicFramePr>
          <p:cNvPr id="3" name="Chart 0" descr=""/>
          <p:cNvGraphicFramePr/>
          <p:nvPr/>
        </p:nvGraphicFramePr>
        <p:xfrm>
          <a:off x="548640" y="128016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98080" y="1371600"/>
            <a:ext cx="4142232" cy="1078992"/>
          </a:xfrm>
          <a:prstGeom prst="roundRect">
            <a:avLst>
              <a:gd name="adj" fmla="val 6780"/>
            </a:avLst>
          </a:prstGeom>
          <a:solidFill>
            <a:srgbClr val="F1F3F7"/>
          </a:solidFill>
          <a:ln w="12700">
            <a:solidFill>
              <a:srgbClr val="F1F3F7"/>
            </a:solidFill>
            <a:prstDash val="solid"/>
          </a:ln>
        </p:spPr>
      </p:sp>
      <p:sp>
        <p:nvSpPr>
          <p:cNvPr id="5" name="Text 2"/>
          <p:cNvSpPr txBox="1"/>
          <p:nvPr/>
        </p:nvSpPr>
        <p:spPr>
          <a:xfrm>
            <a:off x="7680960" y="1463040"/>
            <a:ext cx="3776472" cy="566928"/>
          </a:xfrm>
          <a:prstGeom prst="rect">
            <a:avLst/>
          </a:prstGeom>
          <a:noFill/>
          <a:ln/>
        </p:spPr>
        <p:txBody>
          <a:bodyPr wrap="square" lIns="0" tIns="0" rIns="0" bIns="0" rtlCol="0" anchor="ctr"/>
          <a:lstStyle/>
          <a:p>
            <a:pPr indent="0" marL="0">
              <a:buNone/>
            </a:pPr>
            <a:r>
              <a:rPr lang="en-US" sz="2800" b="1" dirty="0">
                <a:solidFill>
                  <a:srgbClr val="14213D"/>
                </a:solidFill>
                <a:latin typeface="Cambria" pitchFamily="34" charset="0"/>
                <a:ea typeface="Cambria" pitchFamily="34" charset="-122"/>
                <a:cs typeface="Cambria" pitchFamily="34" charset="-120"/>
              </a:rPr>
              <a:t>0 of 36</a:t>
            </a:r>
            <a:endParaRPr lang="en-US" sz="2800" dirty="0"/>
          </a:p>
        </p:txBody>
      </p:sp>
      <p:sp>
        <p:nvSpPr>
          <p:cNvPr id="6" name="Text 3"/>
          <p:cNvSpPr txBox="1"/>
          <p:nvPr/>
        </p:nvSpPr>
        <p:spPr>
          <a:xfrm>
            <a:off x="7680960" y="2029968"/>
            <a:ext cx="3776472" cy="365760"/>
          </a:xfrm>
          <a:prstGeom prst="rect">
            <a:avLst/>
          </a:prstGeom>
          <a:noFill/>
          <a:ln/>
        </p:spPr>
        <p:txBody>
          <a:bodyPr wrap="square" lIns="0" tIns="0" rIns="0" bIns="0" rtlCol="0" anchor="t"/>
          <a:lstStyle/>
          <a:p>
            <a:pPr indent="0" marL="0">
              <a:buNone/>
            </a:pPr>
            <a:r>
              <a:rPr lang="en-US" sz="1200" dirty="0">
                <a:solidFill>
                  <a:srgbClr val="52514E"/>
                </a:solidFill>
              </a:rPr>
              <a:t>tests survive correction (1 nominally significant; about 2 expected by luck)</a:t>
            </a:r>
            <a:endParaRPr lang="en-US" sz="1200" dirty="0"/>
          </a:p>
        </p:txBody>
      </p:sp>
      <p:sp>
        <p:nvSpPr>
          <p:cNvPr id="7" name="Shape 4"/>
          <p:cNvSpPr/>
          <p:nvPr/>
        </p:nvSpPr>
        <p:spPr>
          <a:xfrm>
            <a:off x="7498080" y="2606040"/>
            <a:ext cx="4142232" cy="1078992"/>
          </a:xfrm>
          <a:prstGeom prst="roundRect">
            <a:avLst>
              <a:gd name="adj" fmla="val 6780"/>
            </a:avLst>
          </a:prstGeom>
          <a:solidFill>
            <a:srgbClr val="F1F3F7"/>
          </a:solidFill>
          <a:ln w="12700">
            <a:solidFill>
              <a:srgbClr val="F1F3F7"/>
            </a:solidFill>
            <a:prstDash val="solid"/>
          </a:ln>
        </p:spPr>
      </p:sp>
      <p:sp>
        <p:nvSpPr>
          <p:cNvPr id="8" name="Text 5"/>
          <p:cNvSpPr txBox="1"/>
          <p:nvPr/>
        </p:nvSpPr>
        <p:spPr>
          <a:xfrm>
            <a:off x="7680960" y="2697480"/>
            <a:ext cx="3776472" cy="566928"/>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1.2x to 3.5x</a:t>
            </a:r>
            <a:endParaRPr lang="en-US" sz="2800" dirty="0"/>
          </a:p>
        </p:txBody>
      </p:sp>
      <p:sp>
        <p:nvSpPr>
          <p:cNvPr id="9" name="Text 6"/>
          <p:cNvSpPr txBox="1"/>
          <p:nvPr/>
        </p:nvSpPr>
        <p:spPr>
          <a:xfrm>
            <a:off x="7680960" y="3264408"/>
            <a:ext cx="3776472" cy="365760"/>
          </a:xfrm>
          <a:prstGeom prst="rect">
            <a:avLst/>
          </a:prstGeom>
          <a:noFill/>
          <a:ln/>
        </p:spPr>
        <p:txBody>
          <a:bodyPr wrap="square" lIns="0" tIns="0" rIns="0" bIns="0" rtlCol="0" anchor="t"/>
          <a:lstStyle/>
          <a:p>
            <a:pPr indent="0" marL="0">
              <a:buNone/>
            </a:pPr>
            <a:r>
              <a:rPr lang="en-US" sz="1200" dirty="0">
                <a:solidFill>
                  <a:srgbClr val="52514E"/>
                </a:solidFill>
              </a:rPr>
              <a:t>worse variance forecasts (QLIKE) after decision training</a:t>
            </a:r>
            <a:endParaRPr lang="en-US" sz="1200" dirty="0"/>
          </a:p>
        </p:txBody>
      </p:sp>
      <p:sp>
        <p:nvSpPr>
          <p:cNvPr id="10" name="Text 7"/>
          <p:cNvSpPr txBox="1"/>
          <p:nvPr/>
        </p:nvSpPr>
        <p:spPr>
          <a:xfrm>
            <a:off x="7498080" y="3931920"/>
            <a:ext cx="4142232" cy="2194560"/>
          </a:xfrm>
          <a:prstGeom prst="rect">
            <a:avLst/>
          </a:prstGeom>
          <a:noFill/>
          <a:ln/>
        </p:spPr>
        <p:txBody>
          <a:bodyPr wrap="square" lIns="0" tIns="0" rIns="0" bIns="0" rtlCol="0" anchor="t"/>
          <a:lstStyle/>
          <a:p>
            <a:pPr indent="0" marL="0">
              <a:buNone/>
            </a:pPr>
            <a:r>
              <a:rPr lang="en-US" sz="1400" dirty="0">
                <a:solidFill>
                  <a:srgbClr val="52514E"/>
                </a:solidFill>
              </a:rPr>
              <a:t>Our decision-focused experiment, evaluated under the frozen protocol: accuracy (QMLE) vs portfolio-utility training for GARCH, GJR and the Zhao et al. (2024) GARCH-LSTM, 5 seeds each. We will re-run the network training once to confirm.</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Timing sits out the recovery months</a:t>
            </a:r>
            <a:endParaRPr lang="en-US" sz="3600" dirty="0"/>
          </a:p>
        </p:txBody>
      </p:sp>
      <p:pic>
        <p:nvPicPr>
          <p:cNvPr id="3" name="recovery figure" descr="/tmp/claude-0/-home-claude/21a3796a-06b6-5326-b452-bfe32377a75f/scratchpad/final-version/figures/slides/fig5_recovery_state.png">    </p:cNvPr>
          <p:cNvPicPr>
            <a:picLocks noChangeAspect="1"/>
          </p:cNvPicPr>
          <p:nvPr/>
        </p:nvPicPr>
        <p:blipFill>
          <a:blip r:embed="rId1"/>
          <a:stretch>
            <a:fillRect/>
          </a:stretch>
        </p:blipFill>
        <p:spPr>
          <a:xfrm>
            <a:off x="1143000" y="1188720"/>
            <a:ext cx="9875520" cy="4410683"/>
          </a:xfrm>
          <a:prstGeom prst="rect">
            <a:avLst/>
          </a:prstGeom>
        </p:spPr>
      </p:pic>
      <p:sp>
        <p:nvSpPr>
          <p:cNvPr id="4" name="Text 1"/>
          <p:cNvSpPr txBox="1"/>
          <p:nvPr/>
        </p:nvSpPr>
        <p:spPr>
          <a:xfrm>
            <a:off x="548640" y="5623560"/>
            <a:ext cx="11094415" cy="731520"/>
          </a:xfrm>
          <a:prstGeom prst="rect">
            <a:avLst/>
          </a:prstGeom>
          <a:noFill/>
          <a:ln/>
        </p:spPr>
        <p:txBody>
          <a:bodyPr wrap="square" lIns="0" tIns="0" rIns="0" bIns="0" rtlCol="0" anchor="t"/>
          <a:lstStyle/>
          <a:p>
            <a:pPr indent="0" marL="0">
              <a:buNone/>
            </a:pPr>
            <a:r>
              <a:rPr lang="en-US" sz="1400" b="1" dirty="0">
                <a:solidFill>
                  <a:srgbClr val="14213D"/>
                </a:solidFill>
              </a:rPr>
              <a:t>Recovery months (volatility high but falling) pay 1.6% a month, the most of any state, yet timing holds only 0.35 exposure. </a:t>
            </a:r>
            <a:pPr indent="0" marL="0">
              <a:buNone/>
            </a:pPr>
            <a:r>
              <a:rPr lang="en-US" sz="1400" dirty="0">
                <a:solidFill>
                  <a:srgbClr val="14213D"/>
                </a:solidFill>
              </a:rPr>
              <a:t>A pre-specified fix (exposure at least 1 in recovery) is consistently positive but small: market +0.07 [−0.07, +0.23], 9 of 16 series. On momentum +0.34 (raw p = 0.001), not significant after correction.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After 296 tests, one survives</a:t>
            </a:r>
            <a:endParaRPr lang="en-US" sz="3600" dirty="0"/>
          </a:p>
        </p:txBody>
      </p:sp>
      <p:pic>
        <p:nvPicPr>
          <p:cNvPr id="3" name="multiple testing figure" descr="/tmp/claude-0/-home-claude/21a3796a-06b6-5326-b452-bfe32377a75f/scratchpad/final-version/figures/slides/fig4_multiple_testing.png">    </p:cNvPr>
          <p:cNvPicPr>
            <a:picLocks noChangeAspect="1"/>
          </p:cNvPicPr>
          <p:nvPr/>
        </p:nvPicPr>
        <p:blipFill>
          <a:blip r:embed="rId1"/>
          <a:stretch>
            <a:fillRect/>
          </a:stretch>
        </p:blipFill>
        <p:spPr>
          <a:xfrm>
            <a:off x="914400" y="1234440"/>
            <a:ext cx="10332720" cy="3642129"/>
          </a:xfrm>
          <a:prstGeom prst="rect">
            <a:avLst/>
          </a:prstGeom>
        </p:spPr>
      </p:pic>
      <p:sp>
        <p:nvSpPr>
          <p:cNvPr id="4" name="Text 1"/>
          <p:cNvSpPr txBox="1"/>
          <p:nvPr/>
        </p:nvSpPr>
        <p:spPr>
          <a:xfrm>
            <a:off x="548640" y="5120640"/>
            <a:ext cx="11094415" cy="731520"/>
          </a:xfrm>
          <a:prstGeom prst="rect">
            <a:avLst/>
          </a:prstGeom>
          <a:noFill/>
          <a:ln/>
        </p:spPr>
        <p:txBody>
          <a:bodyPr wrap="square" lIns="0" tIns="0" rIns="0" bIns="0" rtlCol="0" anchor="t"/>
          <a:lstStyle/>
          <a:p>
            <a:pPr indent="0" marL="0">
              <a:buNone/>
            </a:pPr>
            <a:r>
              <a:rPr lang="en-US" sz="1500" b="1" dirty="0">
                <a:solidFill>
                  <a:srgbClr val="14213D"/>
                </a:solidFill>
              </a:rPr>
              <a:t>One joint bootstrap across all comparisons keeps their correlation. </a:t>
            </a:r>
            <a:pPr indent="0" marL="0">
              <a:buNone/>
            </a:pPr>
            <a:r>
              <a:rPr lang="en-US" sz="1500" dirty="0">
                <a:solidFill>
                  <a:srgbClr val="14213D"/>
                </a:solidFill>
              </a:rPr>
              <a:t>The survivor is vol-managed momentum in France (+0.40, t = 4.0). Under the two robustness specs, 3 survive, all momentum or momentum mixes in Europe.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we can and cannot claim</a:t>
            </a:r>
            <a:endParaRPr lang="en-US" sz="3600" dirty="0"/>
          </a:p>
        </p:txBody>
      </p:sp>
      <p:sp>
        <p:nvSpPr>
          <p:cNvPr id="3" name="We can claim"/>
          <p:cNvSpPr/>
          <p:nvPr/>
        </p:nvSpPr>
        <p:spPr>
          <a:xfrm>
            <a:off x="548640" y="1417320"/>
            <a:ext cx="5394960" cy="3749040"/>
          </a:xfrm>
          <a:prstGeom prst="roundRect">
            <a:avLst>
              <a:gd name="adj" fmla="val 2439"/>
            </a:avLst>
          </a:prstGeom>
          <a:solidFill>
            <a:srgbClr val="F1F3F7"/>
          </a:solidFill>
          <a:ln w="12700">
            <a:solidFill>
              <a:srgbClr val="F1F3F7"/>
            </a:solidFill>
            <a:prstDash val="solid"/>
          </a:ln>
        </p:spPr>
      </p:sp>
      <p:sp>
        <p:nvSpPr>
          <p:cNvPr id="4" name="Shape 2"/>
          <p:cNvSpPr/>
          <p:nvPr/>
        </p:nvSpPr>
        <p:spPr>
          <a:xfrm>
            <a:off x="868680" y="1691640"/>
            <a:ext cx="457200" cy="457200"/>
          </a:xfrm>
          <a:prstGeom prst="ellipse">
            <a:avLst/>
          </a:prstGeom>
          <a:solidFill>
            <a:srgbClr val="1BAF7A"/>
          </a:solidFill>
          <a:ln w="12700">
            <a:solidFill>
              <a:srgbClr val="1BAF7A"/>
            </a:solidFill>
            <a:prstDash val="solid"/>
          </a:ln>
        </p:spPr>
      </p:sp>
      <p:sp>
        <p:nvSpPr>
          <p:cNvPr id="5" name="Text 3"/>
          <p:cNvSpPr txBox="1"/>
          <p:nvPr/>
        </p:nvSpPr>
        <p:spPr>
          <a:xfrm>
            <a:off x="86868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Text 4"/>
          <p:cNvSpPr txBox="1"/>
          <p:nvPr/>
        </p:nvSpPr>
        <p:spPr>
          <a:xfrm>
            <a:off x="1508760" y="1691640"/>
            <a:ext cx="4114800" cy="45720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We can claim</a:t>
            </a:r>
            <a:endParaRPr lang="en-US" sz="2200" dirty="0"/>
          </a:p>
        </p:txBody>
      </p:sp>
      <p:sp>
        <p:nvSpPr>
          <p:cNvPr id="7" name="Text 5"/>
          <p:cNvSpPr txBox="1"/>
          <p:nvPr/>
        </p:nvSpPr>
        <p:spPr>
          <a:xfrm>
            <a:off x="914400" y="2423160"/>
            <a:ext cx="4754880" cy="34747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4213D"/>
                </a:solidFill>
              </a:rPr>
              <a:t>Volatility timing reliably cuts drawdowns</a:t>
            </a:r>
            <a:endParaRPr lang="en-US" sz="1700" dirty="0"/>
          </a:p>
          <a:p>
            <a:pPr marL="342900" indent="-342900">
              <a:spcAft>
                <a:spcPts val="600"/>
              </a:spcAft>
              <a:buSzPct val="100000"/>
              <a:buChar char="•"/>
            </a:pPr>
            <a:r>
              <a:rPr lang="en-US" sz="1700" dirty="0">
                <a:solidFill>
                  <a:srgbClr val="14213D"/>
                </a:solidFill>
              </a:rPr>
              <a:t>Sharpe gains were positive before 2016, in three data sets</a:t>
            </a:r>
            <a:endParaRPr lang="en-US" sz="1700" dirty="0"/>
          </a:p>
          <a:p>
            <a:pPr marL="342900" indent="-342900">
              <a:spcAft>
                <a:spcPts val="600"/>
              </a:spcAft>
              <a:buSzPct val="100000"/>
              <a:buChar char="•"/>
            </a:pPr>
            <a:r>
              <a:rPr lang="en-US" sz="1700" dirty="0">
                <a:solidFill>
                  <a:srgbClr val="14213D"/>
                </a:solidFill>
              </a:rPr>
              <a:t>Better forecasts do not give better Sharpe: MT falls as VT rises</a:t>
            </a:r>
            <a:endParaRPr lang="en-US" sz="1700" dirty="0"/>
          </a:p>
          <a:p>
            <a:pPr marL="342900" indent="-342900">
              <a:spcAft>
                <a:spcPts val="600"/>
              </a:spcAft>
              <a:buSzPct val="100000"/>
              <a:buChar char="•"/>
            </a:pPr>
            <a:r>
              <a:rPr lang="en-US" sz="1700" dirty="0">
                <a:solidFill>
                  <a:srgbClr val="14213D"/>
                </a:solidFill>
              </a:rPr>
              <a:t>Vol-managed momentum is the closest to robust</a:t>
            </a:r>
            <a:endParaRPr lang="en-US" sz="1700" dirty="0"/>
          </a:p>
        </p:txBody>
      </p:sp>
      <p:sp>
        <p:nvSpPr>
          <p:cNvPr id="8" name="We cannot claim"/>
          <p:cNvSpPr/>
          <p:nvPr/>
        </p:nvSpPr>
        <p:spPr>
          <a:xfrm>
            <a:off x="6217920" y="1417320"/>
            <a:ext cx="5394960" cy="3749040"/>
          </a:xfrm>
          <a:prstGeom prst="roundRect">
            <a:avLst>
              <a:gd name="adj" fmla="val 2439"/>
            </a:avLst>
          </a:prstGeom>
          <a:solidFill>
            <a:srgbClr val="F1F3F7"/>
          </a:solidFill>
          <a:ln w="12700">
            <a:solidFill>
              <a:srgbClr val="F1F3F7"/>
            </a:solidFill>
            <a:prstDash val="solid"/>
          </a:ln>
        </p:spPr>
      </p:sp>
      <p:sp>
        <p:nvSpPr>
          <p:cNvPr id="9" name="Shape 7"/>
          <p:cNvSpPr/>
          <p:nvPr/>
        </p:nvSpPr>
        <p:spPr>
          <a:xfrm>
            <a:off x="6537960" y="1691640"/>
            <a:ext cx="457200" cy="457200"/>
          </a:xfrm>
          <a:prstGeom prst="ellipse">
            <a:avLst/>
          </a:prstGeom>
          <a:solidFill>
            <a:srgbClr val="E34948"/>
          </a:solidFill>
          <a:ln w="12700">
            <a:solidFill>
              <a:srgbClr val="E34948"/>
            </a:solidFill>
            <a:prstDash val="solid"/>
          </a:ln>
        </p:spPr>
      </p:sp>
      <p:sp>
        <p:nvSpPr>
          <p:cNvPr id="10" name="Text 8"/>
          <p:cNvSpPr txBox="1"/>
          <p:nvPr/>
        </p:nvSpPr>
        <p:spPr>
          <a:xfrm>
            <a:off x="6537960" y="1691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11" name="Text 9"/>
          <p:cNvSpPr txBox="1"/>
          <p:nvPr/>
        </p:nvSpPr>
        <p:spPr>
          <a:xfrm>
            <a:off x="7178040" y="1691640"/>
            <a:ext cx="4114800" cy="457200"/>
          </a:xfrm>
          <a:prstGeom prst="rect">
            <a:avLst/>
          </a:prstGeom>
          <a:noFill/>
          <a:ln/>
        </p:spPr>
        <p:txBody>
          <a:bodyPr wrap="square" lIns="0" tIns="0" rIns="0" bIns="0" rtlCol="0" anchor="ctr"/>
          <a:lstStyle/>
          <a:p>
            <a:pPr indent="0" marL="0">
              <a:buNone/>
            </a:pPr>
            <a:r>
              <a:rPr lang="en-US" sz="2200" b="1" dirty="0">
                <a:solidFill>
                  <a:srgbClr val="14213D"/>
                </a:solidFill>
                <a:latin typeface="Cambria" pitchFamily="34" charset="0"/>
                <a:ea typeface="Cambria" pitchFamily="34" charset="-122"/>
                <a:cs typeface="Cambria" pitchFamily="34" charset="-120"/>
              </a:rPr>
              <a:t>We cannot claim</a:t>
            </a:r>
            <a:endParaRPr lang="en-US" sz="2200" dirty="0"/>
          </a:p>
        </p:txBody>
      </p:sp>
      <p:sp>
        <p:nvSpPr>
          <p:cNvPr id="12" name="Text 10"/>
          <p:cNvSpPr txBox="1"/>
          <p:nvPr/>
        </p:nvSpPr>
        <p:spPr>
          <a:xfrm>
            <a:off x="6583680" y="2423160"/>
            <a:ext cx="4754880" cy="34747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4213D"/>
                </a:solidFill>
              </a:rPr>
              <a:t>That timing beats buy and hold after 2016</a:t>
            </a:r>
            <a:endParaRPr lang="en-US" sz="1700" dirty="0"/>
          </a:p>
          <a:p>
            <a:pPr marL="342900" indent="-342900">
              <a:spcAft>
                <a:spcPts val="600"/>
              </a:spcAft>
              <a:buSzPct val="100000"/>
              <a:buChar char="•"/>
            </a:pPr>
            <a:r>
              <a:rPr lang="en-US" sz="1700" dirty="0">
                <a:solidFill>
                  <a:srgbClr val="14213D"/>
                </a:solidFill>
              </a:rPr>
              <a:t>That Mkt + RMW + CMA + Mom is special (hindsight)</a:t>
            </a:r>
            <a:endParaRPr lang="en-US" sz="1700" dirty="0"/>
          </a:p>
          <a:p>
            <a:pPr marL="342900" indent="-342900">
              <a:spcAft>
                <a:spcPts val="600"/>
              </a:spcAft>
              <a:buSzPct val="100000"/>
              <a:buChar char="•"/>
            </a:pPr>
            <a:r>
              <a:rPr lang="en-US" sz="1700" dirty="0">
                <a:solidFill>
                  <a:srgbClr val="14213D"/>
                </a:solidFill>
              </a:rPr>
              <a:t>That decision-focused training helps</a:t>
            </a:r>
            <a:endParaRPr lang="en-US" sz="1700" dirty="0"/>
          </a:p>
          <a:p>
            <a:pPr marL="342900" indent="-342900">
              <a:spcAft>
                <a:spcPts val="600"/>
              </a:spcAft>
              <a:buSzPct val="100000"/>
              <a:buChar char="•"/>
            </a:pPr>
            <a:r>
              <a:rPr lang="en-US" sz="1700" dirty="0">
                <a:solidFill>
                  <a:srgbClr val="14213D"/>
                </a:solidFill>
              </a:rPr>
              <a:t>That the recovery-state fix is tradable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Next steps to the final submission</a:t>
            </a:r>
            <a:endParaRPr lang="en-US" sz="3600" dirty="0"/>
          </a:p>
        </p:txBody>
      </p:sp>
      <p:sp>
        <p:nvSpPr>
          <p:cNvPr id="3" name="next step 1"/>
          <p:cNvSpPr/>
          <p:nvPr/>
        </p:nvSpPr>
        <p:spPr>
          <a:xfrm>
            <a:off x="548640" y="1417320"/>
            <a:ext cx="5394960" cy="2148840"/>
          </a:xfrm>
          <a:prstGeom prst="roundRect">
            <a:avLst>
              <a:gd name="adj" fmla="val 4255"/>
            </a:avLst>
          </a:prstGeom>
          <a:solidFill>
            <a:srgbClr val="F1F3F7"/>
          </a:solidFill>
          <a:ln w="12700">
            <a:solidFill>
              <a:srgbClr val="F1F3F7"/>
            </a:solidFill>
            <a:prstDash val="solid"/>
          </a:ln>
        </p:spPr>
      </p:sp>
      <p:sp>
        <p:nvSpPr>
          <p:cNvPr id="4" name="Shape 2"/>
          <p:cNvSpPr/>
          <p:nvPr/>
        </p:nvSpPr>
        <p:spPr>
          <a:xfrm>
            <a:off x="822960" y="1691640"/>
            <a:ext cx="457200" cy="457200"/>
          </a:xfrm>
          <a:prstGeom prst="ellipse">
            <a:avLst/>
          </a:prstGeom>
          <a:solidFill>
            <a:srgbClr val="EB6834"/>
          </a:solidFill>
          <a:ln w="12700">
            <a:solidFill>
              <a:srgbClr val="EB6834"/>
            </a:solidFill>
            <a:prstDash val="solid"/>
          </a:ln>
        </p:spPr>
      </p:sp>
      <p:sp>
        <p:nvSpPr>
          <p:cNvPr id="5" name="Text 3"/>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463040" y="1691640"/>
            <a:ext cx="4206240" cy="45720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Is our best mix robust?</a:t>
            </a:r>
            <a:endParaRPr lang="en-US" sz="1900" dirty="0"/>
          </a:p>
        </p:txBody>
      </p:sp>
      <p:sp>
        <p:nvSpPr>
          <p:cNvPr id="7" name="Text 5"/>
          <p:cNvSpPr txBox="1"/>
          <p:nvPr/>
        </p:nvSpPr>
        <p:spPr>
          <a:xfrm>
            <a:off x="1463040" y="2286000"/>
            <a:ext cx="4206240" cy="1143000"/>
          </a:xfrm>
          <a:prstGeom prst="rect">
            <a:avLst/>
          </a:prstGeom>
          <a:noFill/>
          <a:ln/>
        </p:spPr>
        <p:txBody>
          <a:bodyPr wrap="square" lIns="0" tIns="0" rIns="0" bIns="0" rtlCol="0" anchor="t"/>
          <a:lstStyle/>
          <a:p>
            <a:pPr indent="0" marL="0">
              <a:buNone/>
            </a:pPr>
            <a:r>
              <a:rPr lang="en-US" sz="1500" dirty="0">
                <a:solidFill>
                  <a:srgbClr val="52514E"/>
                </a:solidFill>
              </a:rPr>
              <a:t>Bootstrap the ranks of all 63 mixes, and rank the same mix among all mixes in the JKP and French data.</a:t>
            </a:r>
            <a:endParaRPr lang="en-US" sz="1500" dirty="0"/>
          </a:p>
        </p:txBody>
      </p:sp>
      <p:sp>
        <p:nvSpPr>
          <p:cNvPr id="8" name="next step 2"/>
          <p:cNvSpPr/>
          <p:nvPr/>
        </p:nvSpPr>
        <p:spPr>
          <a:xfrm>
            <a:off x="6217920" y="1417320"/>
            <a:ext cx="5394960" cy="2148840"/>
          </a:xfrm>
          <a:prstGeom prst="roundRect">
            <a:avLst>
              <a:gd name="adj" fmla="val 4255"/>
            </a:avLst>
          </a:prstGeom>
          <a:solidFill>
            <a:srgbClr val="F1F3F7"/>
          </a:solidFill>
          <a:ln w="12700">
            <a:solidFill>
              <a:srgbClr val="F1F3F7"/>
            </a:solidFill>
            <a:prstDash val="solid"/>
          </a:ln>
        </p:spPr>
      </p:sp>
      <p:sp>
        <p:nvSpPr>
          <p:cNvPr id="9" name="Shape 7"/>
          <p:cNvSpPr/>
          <p:nvPr/>
        </p:nvSpPr>
        <p:spPr>
          <a:xfrm>
            <a:off x="6492240" y="1691640"/>
            <a:ext cx="457200" cy="457200"/>
          </a:xfrm>
          <a:prstGeom prst="ellipse">
            <a:avLst/>
          </a:prstGeom>
          <a:solidFill>
            <a:srgbClr val="EB6834"/>
          </a:solidFill>
          <a:ln w="12700">
            <a:solidFill>
              <a:srgbClr val="EB6834"/>
            </a:solidFill>
            <a:prstDash val="solid"/>
          </a:ln>
        </p:spPr>
      </p:sp>
      <p:sp>
        <p:nvSpPr>
          <p:cNvPr id="10" name="Text 8"/>
          <p:cNvSpPr txBox="1"/>
          <p:nvPr/>
        </p:nvSpPr>
        <p:spPr>
          <a:xfrm>
            <a:off x="649224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7132320" y="1691640"/>
            <a:ext cx="4206240" cy="45720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Let the expected return vary</a:t>
            </a:r>
            <a:endParaRPr lang="en-US" sz="1900" dirty="0"/>
          </a:p>
        </p:txBody>
      </p:sp>
      <p:sp>
        <p:nvSpPr>
          <p:cNvPr id="12" name="Text 10"/>
          <p:cNvSpPr txBox="1"/>
          <p:nvPr/>
        </p:nvSpPr>
        <p:spPr>
          <a:xfrm>
            <a:off x="7132320" y="2286000"/>
            <a:ext cx="4206240" cy="1143000"/>
          </a:xfrm>
          <a:prstGeom prst="rect">
            <a:avLst/>
          </a:prstGeom>
          <a:noFill/>
          <a:ln/>
        </p:spPr>
        <p:txBody>
          <a:bodyPr wrap="square" lIns="0" tIns="0" rIns="0" bIns="0" rtlCol="0" anchor="t"/>
          <a:lstStyle/>
          <a:p>
            <a:pPr indent="0" marL="0">
              <a:buNone/>
            </a:pPr>
            <a:r>
              <a:rPr lang="en-US" sz="1500" dirty="0">
                <a:solidFill>
                  <a:srgbClr val="52514E"/>
                </a:solidFill>
              </a:rPr>
              <a:t>Scale exposure up in recovery months by how much more they pay, estimated only on earlier data. One pre-specified test (next slide).</a:t>
            </a:r>
            <a:endParaRPr lang="en-US" sz="1500" dirty="0"/>
          </a:p>
        </p:txBody>
      </p:sp>
      <p:sp>
        <p:nvSpPr>
          <p:cNvPr id="13" name="next step 3"/>
          <p:cNvSpPr/>
          <p:nvPr/>
        </p:nvSpPr>
        <p:spPr>
          <a:xfrm>
            <a:off x="548640" y="3794760"/>
            <a:ext cx="5394960" cy="2148840"/>
          </a:xfrm>
          <a:prstGeom prst="roundRect">
            <a:avLst>
              <a:gd name="adj" fmla="val 4255"/>
            </a:avLst>
          </a:prstGeom>
          <a:solidFill>
            <a:srgbClr val="F1F3F7"/>
          </a:solidFill>
          <a:ln w="12700">
            <a:solidFill>
              <a:srgbClr val="F1F3F7"/>
            </a:solidFill>
            <a:prstDash val="solid"/>
          </a:ln>
        </p:spPr>
      </p:sp>
      <p:sp>
        <p:nvSpPr>
          <p:cNvPr id="14" name="Shape 12"/>
          <p:cNvSpPr/>
          <p:nvPr/>
        </p:nvSpPr>
        <p:spPr>
          <a:xfrm>
            <a:off x="822960" y="4069080"/>
            <a:ext cx="457200" cy="457200"/>
          </a:xfrm>
          <a:prstGeom prst="ellipse">
            <a:avLst/>
          </a:prstGeom>
          <a:solidFill>
            <a:srgbClr val="EB6834"/>
          </a:solidFill>
          <a:ln w="12700">
            <a:solidFill>
              <a:srgbClr val="EB6834"/>
            </a:solidFill>
            <a:prstDash val="solid"/>
          </a:ln>
        </p:spPr>
      </p:sp>
      <p:sp>
        <p:nvSpPr>
          <p:cNvPr id="15" name="Text 13"/>
          <p:cNvSpPr txBox="1"/>
          <p:nvPr/>
        </p:nvSpPr>
        <p:spPr>
          <a:xfrm>
            <a:off x="82296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1463040" y="4069080"/>
            <a:ext cx="4206240" cy="45720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Decision-focused learning</a:t>
            </a:r>
            <a:endParaRPr lang="en-US" sz="1900" dirty="0"/>
          </a:p>
        </p:txBody>
      </p:sp>
      <p:sp>
        <p:nvSpPr>
          <p:cNvPr id="17" name="Text 15"/>
          <p:cNvSpPr txBox="1"/>
          <p:nvPr/>
        </p:nvSpPr>
        <p:spPr>
          <a:xfrm>
            <a:off x="1463040" y="4663440"/>
            <a:ext cx="4206240" cy="1143000"/>
          </a:xfrm>
          <a:prstGeom prst="rect">
            <a:avLst/>
          </a:prstGeom>
          <a:noFill/>
          <a:ln/>
        </p:spPr>
        <p:txBody>
          <a:bodyPr wrap="square" lIns="0" tIns="0" rIns="0" bIns="0" rtlCol="0" anchor="t"/>
          <a:lstStyle/>
          <a:p>
            <a:pPr indent="0" marL="0">
              <a:buNone/>
            </a:pPr>
            <a:r>
              <a:rPr lang="en-US" sz="1500" dirty="0">
                <a:solidFill>
                  <a:srgbClr val="52514E"/>
                </a:solidFill>
              </a:rPr>
              <a:t>Train the rule on the portfolio objective with the market state as an input, so it can learn when returns are high (next slide).</a:t>
            </a:r>
            <a:endParaRPr lang="en-US" sz="1500" dirty="0"/>
          </a:p>
        </p:txBody>
      </p:sp>
      <p:sp>
        <p:nvSpPr>
          <p:cNvPr id="18" name="next step 4"/>
          <p:cNvSpPr/>
          <p:nvPr/>
        </p:nvSpPr>
        <p:spPr>
          <a:xfrm>
            <a:off x="6217920" y="3794760"/>
            <a:ext cx="5394960" cy="2148840"/>
          </a:xfrm>
          <a:prstGeom prst="roundRect">
            <a:avLst>
              <a:gd name="adj" fmla="val 4255"/>
            </a:avLst>
          </a:prstGeom>
          <a:solidFill>
            <a:srgbClr val="F1F3F7"/>
          </a:solidFill>
          <a:ln w="12700">
            <a:solidFill>
              <a:srgbClr val="F1F3F7"/>
            </a:solidFill>
            <a:prstDash val="solid"/>
          </a:ln>
        </p:spPr>
      </p:sp>
      <p:sp>
        <p:nvSpPr>
          <p:cNvPr id="19" name="Shape 17"/>
          <p:cNvSpPr/>
          <p:nvPr/>
        </p:nvSpPr>
        <p:spPr>
          <a:xfrm>
            <a:off x="6492240" y="4069080"/>
            <a:ext cx="457200" cy="457200"/>
          </a:xfrm>
          <a:prstGeom prst="ellipse">
            <a:avLst/>
          </a:prstGeom>
          <a:solidFill>
            <a:srgbClr val="EB6834"/>
          </a:solidFill>
          <a:ln w="12700">
            <a:solidFill>
              <a:srgbClr val="EB6834"/>
            </a:solidFill>
            <a:prstDash val="solid"/>
          </a:ln>
        </p:spPr>
      </p:sp>
      <p:sp>
        <p:nvSpPr>
          <p:cNvPr id="20" name="Text 18"/>
          <p:cNvSpPr txBox="1"/>
          <p:nvPr/>
        </p:nvSpPr>
        <p:spPr>
          <a:xfrm>
            <a:off x="649224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7132320" y="4069080"/>
            <a:ext cx="4206240" cy="45720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Confirm and write up</a:t>
            </a:r>
            <a:endParaRPr lang="en-US" sz="1900" dirty="0"/>
          </a:p>
        </p:txBody>
      </p:sp>
      <p:sp>
        <p:nvSpPr>
          <p:cNvPr id="22" name="Text 20"/>
          <p:cNvSpPr txBox="1"/>
          <p:nvPr/>
        </p:nvSpPr>
        <p:spPr>
          <a:xfrm>
            <a:off x="7132320" y="4663440"/>
            <a:ext cx="4206240" cy="1143000"/>
          </a:xfrm>
          <a:prstGeom prst="rect">
            <a:avLst/>
          </a:prstGeom>
          <a:noFill/>
          <a:ln/>
        </p:spPr>
        <p:txBody>
          <a:bodyPr wrap="square" lIns="0" tIns="0" rIns="0" bIns="0" rtlCol="0" anchor="t"/>
          <a:lstStyle/>
          <a:p>
            <a:pPr indent="0" marL="0">
              <a:buNone/>
            </a:pPr>
            <a:r>
              <a:rPr lang="en-US" sz="1500" dirty="0">
                <a:solidFill>
                  <a:srgbClr val="52514E"/>
                </a:solidFill>
              </a:rPr>
              <a:t>Re-run the network training once to confirm, then the final report.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Steps 2 and 3: fixing the return side</a:t>
            </a:r>
            <a:endParaRPr lang="en-US" sz="3600" dirty="0"/>
          </a:p>
        </p:txBody>
      </p:sp>
      <p:sp>
        <p:nvSpPr>
          <p:cNvPr id="3" name="detail 2"/>
          <p:cNvSpPr/>
          <p:nvPr/>
        </p:nvSpPr>
        <p:spPr>
          <a:xfrm>
            <a:off x="548640" y="1371600"/>
            <a:ext cx="5394960" cy="4800600"/>
          </a:xfrm>
          <a:prstGeom prst="roundRect">
            <a:avLst>
              <a:gd name="adj" fmla="val 1905"/>
            </a:avLst>
          </a:prstGeom>
          <a:solidFill>
            <a:srgbClr val="F1F3F7"/>
          </a:solidFill>
          <a:ln w="12700">
            <a:solidFill>
              <a:srgbClr val="F1F3F7"/>
            </a:solidFill>
            <a:prstDash val="solid"/>
          </a:ln>
        </p:spPr>
      </p:sp>
      <p:sp>
        <p:nvSpPr>
          <p:cNvPr id="4" name="Shape 2"/>
          <p:cNvSpPr/>
          <p:nvPr/>
        </p:nvSpPr>
        <p:spPr>
          <a:xfrm>
            <a:off x="822960" y="1600200"/>
            <a:ext cx="457200" cy="457200"/>
          </a:xfrm>
          <a:prstGeom prst="ellipse">
            <a:avLst/>
          </a:prstGeom>
          <a:solidFill>
            <a:srgbClr val="EB6834"/>
          </a:solidFill>
          <a:ln w="12700">
            <a:solidFill>
              <a:srgbClr val="EB6834"/>
            </a:solidFill>
            <a:prstDash val="solid"/>
          </a:ln>
        </p:spPr>
      </p:sp>
      <p:sp>
        <p:nvSpPr>
          <p:cNvPr id="5" name="Text 3"/>
          <p:cNvSpPr txBox="1"/>
          <p:nvPr/>
        </p:nvSpPr>
        <p:spPr>
          <a:xfrm>
            <a:off x="82296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6" name="Text 4"/>
          <p:cNvSpPr txBox="1"/>
          <p:nvPr/>
        </p:nvSpPr>
        <p:spPr>
          <a:xfrm>
            <a:off x="1463040" y="1600200"/>
            <a:ext cx="4297680" cy="45720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Let the expected return vary</a:t>
            </a:r>
            <a:endParaRPr lang="en-US" sz="1900" dirty="0"/>
          </a:p>
        </p:txBody>
      </p:sp>
      <p:sp>
        <p:nvSpPr>
          <p:cNvPr id="7" name="Text 5"/>
          <p:cNvSpPr txBox="1"/>
          <p:nvPr/>
        </p:nvSpPr>
        <p:spPr>
          <a:xfrm>
            <a:off x="868680" y="2286000"/>
            <a:ext cx="4800600" cy="3749040"/>
          </a:xfrm>
          <a:prstGeom prst="rect">
            <a:avLst/>
          </a:prstGeom>
          <a:noFill/>
          <a:ln/>
        </p:spPr>
        <p:txBody>
          <a:bodyPr wrap="square" lIns="0" tIns="0" rIns="0" bIns="0" rtlCol="0" anchor="t"/>
          <a:lstStyle/>
          <a:p>
            <a:pPr indent="0" marL="0">
              <a:spcAft>
                <a:spcPts val="700"/>
              </a:spcAft>
              <a:buNone/>
            </a:pPr>
            <a:r>
              <a:rPr lang="en-US" sz="1400" dirty="0">
                <a:solidFill>
                  <a:srgbClr val="14213D"/>
                </a:solidFill>
              </a:rPr>
              <a:t>Today the rule assumes the expected return μ is the same every month:</a:t>
            </a:r>
            <a:endParaRPr lang="en-US" sz="1400" dirty="0"/>
          </a:p>
          <a:p>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w</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c / v̂</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endParaRPr lang="en-US" sz="1400" dirty="0"/>
          </a:p>
          <a:p>
            <a:pPr indent="0" marL="0">
              <a:spcAft>
                <a:spcPts val="700"/>
              </a:spcAft>
              <a:buNone/>
            </a:pPr>
            <a:r>
              <a:rPr lang="en-US" sz="1400" dirty="0">
                <a:solidFill>
                  <a:srgbClr val="14213D"/>
                </a:solidFill>
              </a:rPr>
              <a:t>Theory says w</a:t>
            </a:r>
            <a:pPr indent="0" marL="0">
              <a:spcAft>
                <a:spcPts val="700"/>
              </a:spcAft>
              <a:buNone/>
            </a:pPr>
            <a:r>
              <a:rPr lang="en-US" sz="1400" baseline="-40000" dirty="0">
                <a:solidFill>
                  <a:srgbClr val="14213D"/>
                </a:solidFill>
              </a:rPr>
              <a:t>t</a:t>
            </a:r>
            <a:pPr indent="0" marL="0">
              <a:spcAft>
                <a:spcPts val="700"/>
              </a:spcAft>
              <a:buNone/>
            </a:pPr>
            <a:r>
              <a:rPr lang="en-US" sz="1400" dirty="0">
                <a:solidFill>
                  <a:srgbClr val="14213D"/>
                </a:solidFill>
              </a:rPr>
              <a:t> = μ</a:t>
            </a:r>
            <a:pPr indent="0" marL="0">
              <a:spcAft>
                <a:spcPts val="700"/>
              </a:spcAft>
              <a:buNone/>
            </a:pPr>
            <a:r>
              <a:rPr lang="en-US" sz="1400" baseline="-40000" dirty="0">
                <a:solidFill>
                  <a:srgbClr val="14213D"/>
                </a:solidFill>
              </a:rPr>
              <a:t>t</a:t>
            </a:r>
            <a:pPr indent="0" marL="0">
              <a:spcAft>
                <a:spcPts val="700"/>
              </a:spcAft>
              <a:buNone/>
            </a:pPr>
            <a:r>
              <a:rPr lang="en-US" sz="1400" dirty="0">
                <a:solidFill>
                  <a:srgbClr val="14213D"/>
                </a:solidFill>
              </a:rPr>
              <a:t> / (γσ</a:t>
            </a:r>
            <a:pPr indent="0" marL="0">
              <a:spcAft>
                <a:spcPts val="700"/>
              </a:spcAft>
              <a:buNone/>
            </a:pPr>
            <a:r>
              <a:rPr lang="en-US" sz="1400" baseline="-40000" dirty="0">
                <a:solidFill>
                  <a:srgbClr val="14213D"/>
                </a:solidFill>
              </a:rPr>
              <a:t>t</a:t>
            </a:r>
            <a:pPr indent="0" marL="0">
              <a:spcAft>
                <a:spcPts val="700"/>
              </a:spcAft>
              <a:buNone/>
            </a:pPr>
            <a:r>
              <a:rPr lang="en-US" sz="1400" dirty="0">
                <a:solidFill>
                  <a:srgbClr val="14213D"/>
                </a:solidFill>
              </a:rPr>
              <a:t>²). If recovery months have a higher μ, scale them up:</a:t>
            </a:r>
            <a:endParaRPr lang="en-US" sz="1400" dirty="0"/>
          </a:p>
          <a:p>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w</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c · m</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s</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v̂</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m</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s</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μ̂</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s</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μ̂</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normal</a:t>
            </a:r>
            <a:endParaRPr lang="en-US" sz="1400" dirty="0"/>
          </a:p>
          <a:p>
            <a:pPr indent="0" marL="0">
              <a:spcAft>
                <a:spcPts val="700"/>
              </a:spcAft>
              <a:buNone/>
            </a:pPr>
            <a:r>
              <a:rPr lang="en-US" sz="1400" dirty="0">
                <a:solidFill>
                  <a:srgbClr val="14213D"/>
                </a:solidFill>
              </a:rPr>
              <a:t>Example: recovery months earn about 2.5× a normal month (1.59% vs 0.64%), so exposure rises from 0.35 to about 0.9 (cap 1.5).</a:t>
            </a:r>
            <a:endParaRPr lang="en-US" sz="1400" dirty="0"/>
          </a:p>
          <a:p>
            <a:pPr indent="0" marL="0">
              <a:spcAft>
                <a:spcPts val="700"/>
              </a:spcAft>
              <a:buNone/>
            </a:pPr>
            <a:r>
              <a:rPr lang="en-US" sz="1400" b="1" dirty="0">
                <a:solidFill>
                  <a:srgbClr val="14213D"/>
                </a:solidFill>
              </a:rPr>
              <a:t>Clean test: m</a:t>
            </a:r>
            <a:pPr indent="0" marL="0">
              <a:spcAft>
                <a:spcPts val="700"/>
              </a:spcAft>
              <a:buNone/>
            </a:pPr>
            <a:r>
              <a:rPr lang="en-US" sz="1400" b="1" baseline="-40000" dirty="0">
                <a:solidFill>
                  <a:srgbClr val="14213D"/>
                </a:solidFill>
              </a:rPr>
              <a:t>s</a:t>
            </a:r>
            <a:pPr indent="0" marL="0">
              <a:spcAft>
                <a:spcPts val="700"/>
              </a:spcAft>
              <a:buNone/>
            </a:pPr>
            <a:r>
              <a:rPr lang="en-US" sz="1400" b="1" dirty="0">
                <a:solidFill>
                  <a:srgbClr val="14213D"/>
                </a:solidFill>
              </a:rPr>
              <a:t> is estimated only on data before 1975, and we run it once.</a:t>
            </a:r>
            <a:endParaRPr lang="en-US" sz="1400" dirty="0"/>
          </a:p>
        </p:txBody>
      </p:sp>
      <p:sp>
        <p:nvSpPr>
          <p:cNvPr id="8" name="detail 3"/>
          <p:cNvSpPr/>
          <p:nvPr/>
        </p:nvSpPr>
        <p:spPr>
          <a:xfrm>
            <a:off x="6217920" y="1371600"/>
            <a:ext cx="5394960" cy="4800600"/>
          </a:xfrm>
          <a:prstGeom prst="roundRect">
            <a:avLst>
              <a:gd name="adj" fmla="val 1905"/>
            </a:avLst>
          </a:prstGeom>
          <a:solidFill>
            <a:srgbClr val="F1F3F7"/>
          </a:solidFill>
          <a:ln w="12700">
            <a:solidFill>
              <a:srgbClr val="F1F3F7"/>
            </a:solidFill>
            <a:prstDash val="solid"/>
          </a:ln>
        </p:spPr>
      </p:sp>
      <p:sp>
        <p:nvSpPr>
          <p:cNvPr id="9" name="Shape 7"/>
          <p:cNvSpPr/>
          <p:nvPr/>
        </p:nvSpPr>
        <p:spPr>
          <a:xfrm>
            <a:off x="6492240" y="1600200"/>
            <a:ext cx="457200" cy="457200"/>
          </a:xfrm>
          <a:prstGeom prst="ellipse">
            <a:avLst/>
          </a:prstGeom>
          <a:solidFill>
            <a:srgbClr val="EB6834"/>
          </a:solidFill>
          <a:ln w="12700">
            <a:solidFill>
              <a:srgbClr val="EB6834"/>
            </a:solidFill>
            <a:prstDash val="solid"/>
          </a:ln>
        </p:spPr>
      </p:sp>
      <p:sp>
        <p:nvSpPr>
          <p:cNvPr id="10" name="Text 8"/>
          <p:cNvSpPr txBox="1"/>
          <p:nvPr/>
        </p:nvSpPr>
        <p:spPr>
          <a:xfrm>
            <a:off x="649224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Text 9"/>
          <p:cNvSpPr txBox="1"/>
          <p:nvPr/>
        </p:nvSpPr>
        <p:spPr>
          <a:xfrm>
            <a:off x="7132320" y="1600200"/>
            <a:ext cx="4297680" cy="45720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Train on the decision, not the forecast</a:t>
            </a:r>
            <a:endParaRPr lang="en-US" sz="1900" dirty="0"/>
          </a:p>
        </p:txBody>
      </p:sp>
      <p:sp>
        <p:nvSpPr>
          <p:cNvPr id="12" name="Text 10"/>
          <p:cNvSpPr txBox="1"/>
          <p:nvPr/>
        </p:nvSpPr>
        <p:spPr>
          <a:xfrm>
            <a:off x="6537960" y="2286000"/>
            <a:ext cx="4800600" cy="3749040"/>
          </a:xfrm>
          <a:prstGeom prst="rect">
            <a:avLst/>
          </a:prstGeom>
          <a:noFill/>
          <a:ln/>
        </p:spPr>
        <p:txBody>
          <a:bodyPr wrap="square" lIns="0" tIns="0" rIns="0" bIns="0" rtlCol="0" anchor="t"/>
          <a:lstStyle/>
          <a:p>
            <a:pPr indent="0" marL="0">
              <a:spcAft>
                <a:spcPts val="700"/>
              </a:spcAft>
              <a:buNone/>
            </a:pPr>
            <a:r>
              <a:rPr lang="en-US" sz="1400" dirty="0">
                <a:solidFill>
                  <a:srgbClr val="14213D"/>
                </a:solidFill>
              </a:rPr>
              <a:t>The accuracy loss (QMLE) only sees squared returns, so it can only learn variance:</a:t>
            </a:r>
            <a:endParaRPr lang="en-US" sz="1400" dirty="0"/>
          </a:p>
          <a:p>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L</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acc</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Σ</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log h</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 R</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² / h</a:t>
            </a:r>
            <a:pPr indent="0" marL="0">
              <a:spcAft>
                <a:spcPts val="700"/>
              </a:spcAft>
              <a:buNone/>
            </a:pPr>
            <a:r>
              <a:rPr lang="en-US" sz="18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800" b="1" dirty="0">
                <a:solidFill>
                  <a:srgbClr val="2A78D6"/>
                </a:solidFill>
                <a:latin typeface="Cambria" pitchFamily="34" charset="0"/>
                <a:ea typeface="Cambria" pitchFamily="34" charset="-122"/>
                <a:cs typeface="Cambria" pitchFamily="34" charset="-120"/>
              </a:rPr>
              <a:t> ]</a:t>
            </a:r>
            <a:endParaRPr lang="en-US" sz="1400" dirty="0"/>
          </a:p>
          <a:p>
            <a:pPr indent="0" marL="0">
              <a:spcAft>
                <a:spcPts val="700"/>
              </a:spcAft>
              <a:buNone/>
            </a:pPr>
            <a:r>
              <a:rPr lang="en-US" sz="1400" dirty="0">
                <a:solidFill>
                  <a:srgbClr val="14213D"/>
                </a:solidFill>
              </a:rPr>
              <a:t>A decision loss sees the portfolio return itself, so it can learn when μ is high:</a:t>
            </a:r>
            <a:endParaRPr lang="en-US" sz="1400" dirty="0"/>
          </a:p>
          <a:p>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L</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dec</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 = −[ mean(w</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R</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 − (γ/2) var(w</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R</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 ]</a:t>
            </a:r>
            <a:endParaRPr lang="en-US" sz="1400" dirty="0"/>
          </a:p>
          <a:p>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with  w</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 = c · g</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θ</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(state</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pPr indent="0" marL="0">
              <a:spcAft>
                <a:spcPts val="700"/>
              </a:spcAft>
              <a:buNone/>
            </a:pPr>
            <a:r>
              <a:rPr lang="en-US" sz="1700" b="1" dirty="0">
                <a:solidFill>
                  <a:srgbClr val="2A78D6"/>
                </a:solidFill>
                <a:latin typeface="Cambria" pitchFamily="34" charset="0"/>
                <a:ea typeface="Cambria" pitchFamily="34" charset="-122"/>
                <a:cs typeface="Cambria" pitchFamily="34" charset="-120"/>
              </a:rPr>
              <a:t>) / h</a:t>
            </a:r>
            <a:pPr indent="0" marL="0">
              <a:spcAft>
                <a:spcPts val="700"/>
              </a:spcAft>
              <a:buNone/>
            </a:pPr>
            <a:r>
              <a:rPr lang="en-US" sz="1700" b="1" baseline="-40000" dirty="0">
                <a:solidFill>
                  <a:srgbClr val="2A78D6"/>
                </a:solidFill>
                <a:latin typeface="Cambria" pitchFamily="34" charset="0"/>
                <a:ea typeface="Cambria" pitchFamily="34" charset="-122"/>
                <a:cs typeface="Cambria" pitchFamily="34" charset="-120"/>
              </a:rPr>
              <a:t>t</a:t>
            </a:r>
            <a:endParaRPr lang="en-US" sz="1400" dirty="0"/>
          </a:p>
          <a:p>
            <a:pPr indent="0" marL="0">
              <a:spcAft>
                <a:spcPts val="700"/>
              </a:spcAft>
              <a:buNone/>
            </a:pPr>
            <a:r>
              <a:rPr lang="en-US" sz="1400" dirty="0">
                <a:solidFill>
                  <a:srgbClr val="14213D"/>
                </a:solidFill>
              </a:rPr>
              <a:t>g</a:t>
            </a:r>
            <a:pPr indent="0" marL="0">
              <a:spcAft>
                <a:spcPts val="700"/>
              </a:spcAft>
              <a:buNone/>
            </a:pPr>
            <a:r>
              <a:rPr lang="en-US" sz="1400" baseline="-40000" dirty="0">
                <a:solidFill>
                  <a:srgbClr val="14213D"/>
                </a:solidFill>
              </a:rPr>
              <a:t>θ</a:t>
            </a:r>
            <a:pPr indent="0" marL="0">
              <a:spcAft>
                <a:spcPts val="700"/>
              </a:spcAft>
              <a:buNone/>
            </a:pPr>
            <a:r>
              <a:rPr lang="en-US" sz="1400" dirty="0">
                <a:solidFill>
                  <a:srgbClr val="14213D"/>
                </a:solidFill>
              </a:rPr>
              <a:t> = 1 + θ</a:t>
            </a:r>
            <a:pPr indent="0" marL="0">
              <a:spcAft>
                <a:spcPts val="700"/>
              </a:spcAft>
              <a:buNone/>
            </a:pPr>
            <a:r>
              <a:rPr lang="en-US" sz="1400" baseline="-40000" dirty="0">
                <a:solidFill>
                  <a:srgbClr val="14213D"/>
                </a:solidFill>
              </a:rPr>
              <a:t>P</a:t>
            </a:r>
            <a:pPr indent="0" marL="0">
              <a:spcAft>
                <a:spcPts val="700"/>
              </a:spcAft>
              <a:buNone/>
            </a:pPr>
            <a:r>
              <a:rPr lang="en-US" sz="1400" dirty="0">
                <a:solidFill>
                  <a:srgbClr val="14213D"/>
                </a:solidFill>
              </a:rPr>
              <a:t>·[panic] + θ</a:t>
            </a:r>
            <a:pPr indent="0" marL="0">
              <a:spcAft>
                <a:spcPts val="700"/>
              </a:spcAft>
              <a:buNone/>
            </a:pPr>
            <a:r>
              <a:rPr lang="en-US" sz="1400" baseline="-40000" dirty="0">
                <a:solidFill>
                  <a:srgbClr val="14213D"/>
                </a:solidFill>
              </a:rPr>
              <a:t>R</a:t>
            </a:r>
            <a:pPr indent="0" marL="0">
              <a:spcAft>
                <a:spcPts val="700"/>
              </a:spcAft>
              <a:buNone/>
            </a:pPr>
            <a:r>
              <a:rPr lang="en-US" sz="1400" dirty="0">
                <a:solidFill>
                  <a:srgbClr val="14213D"/>
                </a:solidFill>
              </a:rPr>
              <a:t>·[recovery]: two parameters, trained on 1975-1997, tested on 1998-2025.</a:t>
            </a:r>
            <a:endParaRPr lang="en-US" sz="1400" dirty="0"/>
          </a:p>
          <a:p>
            <a:pPr indent="0" marL="0">
              <a:spcAft>
                <a:spcPts val="700"/>
              </a:spcAft>
              <a:buNone/>
            </a:pPr>
            <a:r>
              <a:rPr lang="en-US" sz="1400" b="1" dirty="0">
                <a:solidFill>
                  <a:srgbClr val="14213D"/>
                </a:solidFill>
              </a:rPr>
              <a:t>Why our network did not gain: its inputs carry only volatility, so the decision loss could only bend the variance forecast.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Appendix: robustness of the protocol</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554480"/>
                <a:gridCol w="822960"/>
                <a:gridCol w="2834640"/>
                <a:gridCol w="731520"/>
                <a:gridCol w="1828800"/>
                <a:gridCol w="1828800"/>
                <a:gridCol w="149047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Spec</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 rule</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Cap</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 market gain</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 mix gain*</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Romano-Wolf survivors</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14213D"/>
                    </a:solidFill>
                  </a:tcPr>
                </a:tc>
              </a:tr>
              <a:tr h="50292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main (SPEC.md)</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 bp</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vol-matched, re-set every January</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+0.09 [−0.13, +0.33]</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+0.19 [−0.05, +0.42]</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old</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5 bp</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mean exposure 1, frozen on pre-1998 data</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+0.06 [−0.22, +0.34]</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+0.24 [−0.00, +0.48]</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uncapped</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 bp</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vol-matched, re-set every January</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+0.06 [−0.23, +0.35]</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+0.18 [−0.07, +0.42]</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40480"/>
            <a:ext cx="11094415" cy="2103120"/>
          </a:xfrm>
          <a:prstGeom prst="rect">
            <a:avLst/>
          </a:prstGeom>
          <a:noFill/>
          <a:ln/>
        </p:spPr>
        <p:txBody>
          <a:bodyPr wrap="square" lIns="0" tIns="0" rIns="0" bIns="0" rtlCol="0" anchor="t"/>
          <a:lstStyle/>
          <a:p>
            <a:pPr indent="0" marL="0">
              <a:buNone/>
            </a:pPr>
            <a:r>
              <a:rPr lang="en-US" sz="1500" b="1" dirty="0">
                <a:solidFill>
                  <a:srgbClr val="14213D"/>
                </a:solidFill>
              </a:rPr>
              <a:t>The picture does not depend on the spec. </a:t>
            </a:r>
            <a:pPr indent="0" marL="0">
              <a:buNone/>
            </a:pPr>
            <a:r>
              <a:rPr lang="en-US" sz="1500" dirty="0">
                <a:solidFill>
                  <a:srgbClr val="14213D"/>
                </a:solidFill>
              </a:rPr>
              <a:t>One result does: leg-wise timing in the French data (market leg unmanaged, other legs timed) beats timing the whole mix with cap 1.5 but not with cap 2. It was designed after seeing the JKP results, so we report it as post-hoc.</a:t>
            </a:r>
            <a:endParaRPr lang="en-US" sz="1500" dirty="0"/>
          </a:p>
          <a:p>
            <a:pPr indent="0" marL="0">
              <a:buNone/>
            </a:pPr>
            <a:r>
              <a:rPr lang="en-US" sz="800" dirty="0">
                <a:solidFill>
                  <a:srgbClr val="14213D"/>
                </a:solidFill>
              </a:rPr>
              <a:t> </a:t>
            </a:r>
            <a:endParaRPr lang="en-US" sz="1500" dirty="0"/>
          </a:p>
          <a:p>
            <a:pPr indent="0" marL="0">
              <a:buNone/>
            </a:pPr>
            <a:r>
              <a:rPr lang="en-US" sz="1300" dirty="0">
                <a:solidFill>
                  <a:srgbClr val="52514E"/>
                </a:solidFill>
              </a:rPr>
              <a:t>* Mkt + RMW + CMA + Mom, 1998-2025, chosen with hindsight. Code: final-version/run_all.py --spec main | old | uncapped.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DFVT">
  <a:themeElements>
    <a:clrScheme name="DFVT">
      <a:dk1>
        <a:srgbClr val="14213D"/>
      </a:dk1>
      <a:lt1>
        <a:srgbClr val="FFFFFF"/>
      </a:lt1>
      <a:dk2>
        <a:srgbClr val="52514E"/>
      </a:dk2>
      <a:lt2>
        <a:srgbClr val="F1F3F7"/>
      </a:lt2>
      <a:accent1>
        <a:srgbClr val="EB6834"/>
      </a:accent1>
      <a:accent2>
        <a:srgbClr val="2A78D6"/>
      </a:accent2>
      <a:accent3>
        <a:srgbClr val="8A8984"/>
      </a:accent3>
      <a:accent4>
        <a:srgbClr val="1BAF7A"/>
      </a:accent4>
      <a:accent5>
        <a:srgbClr val="E34948"/>
      </a:accent5>
      <a:accent6>
        <a:srgbClr val="4A3AA7"/>
      </a:accent6>
      <a:hlink>
        <a:srgbClr val="2A78D6"/>
      </a:hlink>
      <a:folHlink>
        <a:srgbClr val="4A3AA7"/>
      </a:folHlink>
    </a:clrScheme>
    <a:fontScheme name="DFV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Decision-Focused Volatility Timing: progress report</dc:title>
  <dc:subject>PptxGenJS Presentation</dc:subject>
  <dc:creator>Ayush Roy</dc:creator>
  <cp:lastModifiedBy>Ayush Roy</cp:lastModifiedBy>
  <cp:revision>1</cp:revision>
  <dcterms:created xsi:type="dcterms:W3CDTF">2026-10-06T22:43:14Z</dcterms:created>
  <dcterms:modified xsi:type="dcterms:W3CDTF">2026-10-06T22:43:14Z</dcterms:modified>
</cp:coreProperties>
</file>