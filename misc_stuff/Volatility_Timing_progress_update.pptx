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Median stock volatility (Garman-Klass, annualised)</c:v>
                </c:pt>
              </c:strCache>
            </c:strRef>
          </c:tx>
          <c:spPr>
            <a:solidFill>
              <a:srgbClr val="12877C"/>
            </a:solidFill>
            <a:ln w="22225" cap="flat">
              <a:solidFill>
                <a:srgbClr val="12877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2877C"/>
              </a:solidFill>
              <a:ln w="9525" cap="flat">
                <a:solidFill>
                  <a:srgbClr val="12877C"/>
                </a:solidFill>
                <a:prstDash val="solid"/>
                <a:round/>
              </a:ln>
              <a:effectLst/>
            </c:spPr>
          </c:marker>
          <c:cat>
            <c:multiLvlStrRef>
              <c:f>Sheet1!$A$2:$A$250</c:f>
              <c:multiLvlStrCache>
                <c:ptCount val="249"/>
                <c:lvl>
                  <c:pt idx="0">
                    <c:v>2006</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2010</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2014</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2018</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2022</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2026</c:v>
                  </c:pt>
                  <c:pt idx="241">
                    <c:v/>
                  </c:pt>
                  <c:pt idx="242">
                    <c:v/>
                  </c:pt>
                  <c:pt idx="243">
                    <c:v/>
                  </c:pt>
                  <c:pt idx="244">
                    <c:v/>
                  </c:pt>
                  <c:pt idx="245">
                    <c:v/>
                  </c:pt>
                  <c:pt idx="246">
                    <c:v/>
                  </c:pt>
                  <c:pt idx="247">
                    <c:v/>
                  </c:pt>
                  <c:pt idx="248">
                    <c:v/>
                  </c:pt>
                </c:lvl>
              </c:multiLvlStrCache>
            </c:multiLvlStrRef>
          </c:cat>
          <c:val>
            <c:numRef>
              <c:f>Sheet1!$B$2:$B$250</c:f>
              <c:numCache>
                <c:formatCode>General</c:formatCode>
                <c:ptCount val="249"/>
                <c:pt idx="0">
                  <c:v>19.011</c:v>
                </c:pt>
                <c:pt idx="1">
                  <c:v>19.899</c:v>
                </c:pt>
                <c:pt idx="2">
                  <c:v>18.86</c:v>
                </c:pt>
                <c:pt idx="3">
                  <c:v>20.653</c:v>
                </c:pt>
                <c:pt idx="4">
                  <c:v>22.217</c:v>
                </c:pt>
                <c:pt idx="5">
                  <c:v>24.23</c:v>
                </c:pt>
                <c:pt idx="6">
                  <c:v>23.701</c:v>
                </c:pt>
                <c:pt idx="7">
                  <c:v>21.176</c:v>
                </c:pt>
                <c:pt idx="8">
                  <c:v>19.909</c:v>
                </c:pt>
                <c:pt idx="9">
                  <c:v>19.201</c:v>
                </c:pt>
                <c:pt idx="10">
                  <c:v>18.498</c:v>
                </c:pt>
                <c:pt idx="11">
                  <c:v>17.229</c:v>
                </c:pt>
                <c:pt idx="12">
                  <c:v>19.417</c:v>
                </c:pt>
                <c:pt idx="13">
                  <c:v>18.843</c:v>
                </c:pt>
                <c:pt idx="14">
                  <c:v>20.453</c:v>
                </c:pt>
                <c:pt idx="15">
                  <c:v>16.886</c:v>
                </c:pt>
                <c:pt idx="16">
                  <c:v>18.923</c:v>
                </c:pt>
                <c:pt idx="17">
                  <c:v>19.632</c:v>
                </c:pt>
                <c:pt idx="18">
                  <c:v>23.208</c:v>
                </c:pt>
                <c:pt idx="19">
                  <c:v>37.61</c:v>
                </c:pt>
                <c:pt idx="20">
                  <c:v>24.817</c:v>
                </c:pt>
                <c:pt idx="21">
                  <c:v>26.518</c:v>
                </c:pt>
                <c:pt idx="22">
                  <c:v>32.583</c:v>
                </c:pt>
                <c:pt idx="23">
                  <c:v>28.025</c:v>
                </c:pt>
                <c:pt idx="24">
                  <c:v>42.342</c:v>
                </c:pt>
                <c:pt idx="25">
                  <c:v>32.564</c:v>
                </c:pt>
                <c:pt idx="26">
                  <c:v>35.807</c:v>
                </c:pt>
                <c:pt idx="27">
                  <c:v>28.386</c:v>
                </c:pt>
                <c:pt idx="28">
                  <c:v>26.785</c:v>
                </c:pt>
                <c:pt idx="29">
                  <c:v>28.822</c:v>
                </c:pt>
                <c:pt idx="30">
                  <c:v>39.306</c:v>
                </c:pt>
                <c:pt idx="31">
                  <c:v>31.626</c:v>
                </c:pt>
                <c:pt idx="32">
                  <c:v>48.022</c:v>
                </c:pt>
                <c:pt idx="33">
                  <c:v>83.234</c:v>
                </c:pt>
                <c:pt idx="34">
                  <c:v>71.171</c:v>
                </c:pt>
                <c:pt idx="35">
                  <c:v>58.413</c:v>
                </c:pt>
                <c:pt idx="36">
                  <c:v>49.597</c:v>
                </c:pt>
                <c:pt idx="37">
                  <c:v>49.317</c:v>
                </c:pt>
                <c:pt idx="38">
                  <c:v>52.501</c:v>
                </c:pt>
                <c:pt idx="39">
                  <c:v>44.868</c:v>
                </c:pt>
                <c:pt idx="40">
                  <c:v>41.513</c:v>
                </c:pt>
                <c:pt idx="41">
                  <c:v>33.536</c:v>
                </c:pt>
                <c:pt idx="42">
                  <c:v>30.917</c:v>
                </c:pt>
                <c:pt idx="43">
                  <c:v>28.29</c:v>
                </c:pt>
                <c:pt idx="44">
                  <c:v>27.323</c:v>
                </c:pt>
                <c:pt idx="45">
                  <c:v>27.923</c:v>
                </c:pt>
                <c:pt idx="46">
                  <c:v>25.553</c:v>
                </c:pt>
                <c:pt idx="47">
                  <c:v>21.242</c:v>
                </c:pt>
                <c:pt idx="48">
                  <c:v>24.473</c:v>
                </c:pt>
                <c:pt idx="49">
                  <c:v>22.994</c:v>
                </c:pt>
                <c:pt idx="50">
                  <c:v>19.388</c:v>
                </c:pt>
                <c:pt idx="51">
                  <c:v>21.668</c:v>
                </c:pt>
                <c:pt idx="52">
                  <c:v>36.629</c:v>
                </c:pt>
                <c:pt idx="53">
                  <c:v>27.958</c:v>
                </c:pt>
                <c:pt idx="54">
                  <c:v>27.507</c:v>
                </c:pt>
                <c:pt idx="55">
                  <c:v>24.26</c:v>
                </c:pt>
                <c:pt idx="56">
                  <c:v>21.879</c:v>
                </c:pt>
                <c:pt idx="57">
                  <c:v>21.382</c:v>
                </c:pt>
                <c:pt idx="58">
                  <c:v>20.326</c:v>
                </c:pt>
                <c:pt idx="59">
                  <c:v>16.886</c:v>
                </c:pt>
                <c:pt idx="60">
                  <c:v>20.673</c:v>
                </c:pt>
                <c:pt idx="61">
                  <c:v>19.8</c:v>
                </c:pt>
                <c:pt idx="62">
                  <c:v>21.291</c:v>
                </c:pt>
                <c:pt idx="63">
                  <c:v>18.225</c:v>
                </c:pt>
                <c:pt idx="64">
                  <c:v>20.027</c:v>
                </c:pt>
                <c:pt idx="65">
                  <c:v>20.63</c:v>
                </c:pt>
                <c:pt idx="66">
                  <c:v>20.311</c:v>
                </c:pt>
                <c:pt idx="67">
                  <c:v>41.108</c:v>
                </c:pt>
                <c:pt idx="68">
                  <c:v>34.166</c:v>
                </c:pt>
                <c:pt idx="69">
                  <c:v>34.232</c:v>
                </c:pt>
                <c:pt idx="70">
                  <c:v>28.071</c:v>
                </c:pt>
                <c:pt idx="71">
                  <c:v>23.675</c:v>
                </c:pt>
                <c:pt idx="72">
                  <c:v>20.886</c:v>
                </c:pt>
                <c:pt idx="73">
                  <c:v>19.398</c:v>
                </c:pt>
                <c:pt idx="74">
                  <c:v>18.655</c:v>
                </c:pt>
                <c:pt idx="75">
                  <c:v>19.218</c:v>
                </c:pt>
                <c:pt idx="76">
                  <c:v>21.799</c:v>
                </c:pt>
                <c:pt idx="77">
                  <c:v>21.787</c:v>
                </c:pt>
                <c:pt idx="78">
                  <c:v>21.029</c:v>
                </c:pt>
                <c:pt idx="79">
                  <c:v>17.753</c:v>
                </c:pt>
                <c:pt idx="80">
                  <c:v>18.056</c:v>
                </c:pt>
                <c:pt idx="81">
                  <c:v>18.145</c:v>
                </c:pt>
                <c:pt idx="82">
                  <c:v>19.751</c:v>
                </c:pt>
                <c:pt idx="83">
                  <c:v>17.31</c:v>
                </c:pt>
                <c:pt idx="84">
                  <c:v>15.792</c:v>
                </c:pt>
                <c:pt idx="85">
                  <c:v>16.646</c:v>
                </c:pt>
                <c:pt idx="86">
                  <c:v>15.81</c:v>
                </c:pt>
                <c:pt idx="87">
                  <c:v>18.749</c:v>
                </c:pt>
                <c:pt idx="88">
                  <c:v>17.885</c:v>
                </c:pt>
                <c:pt idx="89">
                  <c:v>20.171</c:v>
                </c:pt>
                <c:pt idx="90">
                  <c:v>16.838</c:v>
                </c:pt>
                <c:pt idx="91">
                  <c:v>16.517</c:v>
                </c:pt>
                <c:pt idx="92">
                  <c:v>17.293</c:v>
                </c:pt>
                <c:pt idx="93">
                  <c:v>17.019</c:v>
                </c:pt>
                <c:pt idx="94">
                  <c:v>16.817</c:v>
                </c:pt>
                <c:pt idx="95">
                  <c:v>16.748</c:v>
                </c:pt>
                <c:pt idx="96">
                  <c:v>17.994</c:v>
                </c:pt>
                <c:pt idx="97">
                  <c:v>19.391</c:v>
                </c:pt>
                <c:pt idx="98">
                  <c:v>18.174</c:v>
                </c:pt>
                <c:pt idx="99">
                  <c:v>20.338</c:v>
                </c:pt>
                <c:pt idx="100">
                  <c:v>17.985</c:v>
                </c:pt>
                <c:pt idx="101">
                  <c:v>15.688</c:v>
                </c:pt>
                <c:pt idx="102">
                  <c:v>15.446</c:v>
                </c:pt>
                <c:pt idx="103">
                  <c:v>15.072</c:v>
                </c:pt>
                <c:pt idx="104">
                  <c:v>15.077</c:v>
                </c:pt>
                <c:pt idx="105">
                  <c:v>22.02</c:v>
                </c:pt>
                <c:pt idx="106">
                  <c:v>16.165</c:v>
                </c:pt>
                <c:pt idx="107">
                  <c:v>19.496</c:v>
                </c:pt>
                <c:pt idx="108">
                  <c:v>22.746</c:v>
                </c:pt>
                <c:pt idx="109">
                  <c:v>18.547</c:v>
                </c:pt>
                <c:pt idx="110">
                  <c:v>17.698</c:v>
                </c:pt>
                <c:pt idx="111">
                  <c:v>17.129</c:v>
                </c:pt>
                <c:pt idx="112">
                  <c:v>16.625</c:v>
                </c:pt>
                <c:pt idx="113">
                  <c:v>15.95</c:v>
                </c:pt>
                <c:pt idx="114">
                  <c:v>17.886</c:v>
                </c:pt>
                <c:pt idx="115">
                  <c:v>24.03</c:v>
                </c:pt>
                <c:pt idx="116">
                  <c:v>21.102</c:v>
                </c:pt>
                <c:pt idx="117">
                  <c:v>22.401</c:v>
                </c:pt>
                <c:pt idx="118">
                  <c:v>19.764</c:v>
                </c:pt>
                <c:pt idx="119">
                  <c:v>20.866</c:v>
                </c:pt>
                <c:pt idx="120">
                  <c:v>30.206</c:v>
                </c:pt>
                <c:pt idx="121">
                  <c:v>28.439</c:v>
                </c:pt>
                <c:pt idx="122">
                  <c:v>21.219</c:v>
                </c:pt>
                <c:pt idx="123">
                  <c:v>19.431</c:v>
                </c:pt>
                <c:pt idx="124">
                  <c:v>19.488</c:v>
                </c:pt>
                <c:pt idx="125">
                  <c:v>18.982</c:v>
                </c:pt>
                <c:pt idx="126">
                  <c:v>16.629</c:v>
                </c:pt>
                <c:pt idx="127">
                  <c:v>14.988</c:v>
                </c:pt>
                <c:pt idx="128">
                  <c:v>16.862</c:v>
                </c:pt>
                <c:pt idx="129">
                  <c:v>17.132</c:v>
                </c:pt>
                <c:pt idx="130">
                  <c:v>21.986</c:v>
                </c:pt>
                <c:pt idx="131">
                  <c:v>18.927</c:v>
                </c:pt>
                <c:pt idx="132">
                  <c:v>18.251</c:v>
                </c:pt>
                <c:pt idx="133">
                  <c:v>16.986</c:v>
                </c:pt>
                <c:pt idx="134">
                  <c:v>17.076</c:v>
                </c:pt>
                <c:pt idx="135">
                  <c:v>17.02</c:v>
                </c:pt>
                <c:pt idx="136">
                  <c:v>17.136</c:v>
                </c:pt>
                <c:pt idx="137">
                  <c:v>18.526</c:v>
                </c:pt>
                <c:pt idx="138">
                  <c:v>16.644</c:v>
                </c:pt>
                <c:pt idx="139">
                  <c:v>16.262</c:v>
                </c:pt>
                <c:pt idx="140">
                  <c:v>16.459</c:v>
                </c:pt>
                <c:pt idx="141">
                  <c:v>15.743</c:v>
                </c:pt>
                <c:pt idx="142">
                  <c:v>18.213</c:v>
                </c:pt>
                <c:pt idx="143">
                  <c:v>17.86</c:v>
                </c:pt>
                <c:pt idx="144">
                  <c:v>18.138</c:v>
                </c:pt>
                <c:pt idx="145">
                  <c:v>26.155</c:v>
                </c:pt>
                <c:pt idx="146">
                  <c:v>22.059</c:v>
                </c:pt>
                <c:pt idx="147">
                  <c:v>20.779</c:v>
                </c:pt>
                <c:pt idx="148">
                  <c:v>18.351</c:v>
                </c:pt>
                <c:pt idx="149">
                  <c:v>18.067</c:v>
                </c:pt>
                <c:pt idx="150">
                  <c:v>17.757</c:v>
                </c:pt>
                <c:pt idx="151">
                  <c:v>16.525</c:v>
                </c:pt>
                <c:pt idx="152">
                  <c:v>17.342</c:v>
                </c:pt>
                <c:pt idx="153">
                  <c:v>26.148</c:v>
                </c:pt>
                <c:pt idx="154">
                  <c:v>24.97</c:v>
                </c:pt>
                <c:pt idx="155">
                  <c:v>32.632</c:v>
                </c:pt>
                <c:pt idx="156">
                  <c:v>22.776</c:v>
                </c:pt>
                <c:pt idx="157">
                  <c:v>17.99</c:v>
                </c:pt>
                <c:pt idx="158">
                  <c:v>19.134</c:v>
                </c:pt>
                <c:pt idx="159">
                  <c:v>17.424</c:v>
                </c:pt>
                <c:pt idx="160">
                  <c:v>20.344</c:v>
                </c:pt>
                <c:pt idx="161">
                  <c:v>19.609</c:v>
                </c:pt>
                <c:pt idx="162">
                  <c:v>18.422</c:v>
                </c:pt>
                <c:pt idx="163">
                  <c:v>22.555</c:v>
                </c:pt>
                <c:pt idx="164">
                  <c:v>21.471</c:v>
                </c:pt>
                <c:pt idx="165">
                  <c:v>19.851</c:v>
                </c:pt>
                <c:pt idx="166">
                  <c:v>17.594</c:v>
                </c:pt>
                <c:pt idx="167">
                  <c:v>15.814</c:v>
                </c:pt>
                <c:pt idx="168">
                  <c:v>17.722</c:v>
                </c:pt>
                <c:pt idx="169">
                  <c:v>23.824</c:v>
                </c:pt>
                <c:pt idx="170">
                  <c:v>82.822</c:v>
                </c:pt>
                <c:pt idx="171">
                  <c:v>48.964</c:v>
                </c:pt>
                <c:pt idx="172">
                  <c:v>39.06</c:v>
                </c:pt>
                <c:pt idx="173">
                  <c:v>36.76</c:v>
                </c:pt>
                <c:pt idx="174">
                  <c:v>29.526</c:v>
                </c:pt>
                <c:pt idx="175">
                  <c:v>25.23</c:v>
                </c:pt>
                <c:pt idx="176">
                  <c:v>30.585</c:v>
                </c:pt>
                <c:pt idx="177">
                  <c:v>27.003</c:v>
                </c:pt>
                <c:pt idx="178">
                  <c:v>31.228</c:v>
                </c:pt>
                <c:pt idx="179">
                  <c:v>24.406</c:v>
                </c:pt>
                <c:pt idx="180">
                  <c:v>30.49</c:v>
                </c:pt>
                <c:pt idx="181">
                  <c:v>29.912</c:v>
                </c:pt>
                <c:pt idx="182">
                  <c:v>32.674</c:v>
                </c:pt>
                <c:pt idx="183">
                  <c:v>22.732</c:v>
                </c:pt>
                <c:pt idx="184">
                  <c:v>24.358</c:v>
                </c:pt>
                <c:pt idx="185">
                  <c:v>21.064</c:v>
                </c:pt>
                <c:pt idx="186">
                  <c:v>23.173</c:v>
                </c:pt>
                <c:pt idx="187">
                  <c:v>21.802</c:v>
                </c:pt>
                <c:pt idx="188">
                  <c:v>22.506</c:v>
                </c:pt>
                <c:pt idx="189">
                  <c:v>21.878</c:v>
                </c:pt>
                <c:pt idx="190">
                  <c:v>25.55</c:v>
                </c:pt>
                <c:pt idx="191">
                  <c:v>26.913</c:v>
                </c:pt>
                <c:pt idx="192">
                  <c:v>33.044</c:v>
                </c:pt>
                <c:pt idx="193">
                  <c:v>29.401</c:v>
                </c:pt>
                <c:pt idx="194">
                  <c:v>29.491</c:v>
                </c:pt>
                <c:pt idx="195">
                  <c:v>29.261</c:v>
                </c:pt>
                <c:pt idx="196">
                  <c:v>36.05</c:v>
                </c:pt>
                <c:pt idx="197">
                  <c:v>30.95</c:v>
                </c:pt>
                <c:pt idx="198">
                  <c:v>27.815</c:v>
                </c:pt>
                <c:pt idx="199">
                  <c:v>23.272</c:v>
                </c:pt>
                <c:pt idx="200">
                  <c:v>28.611</c:v>
                </c:pt>
                <c:pt idx="201">
                  <c:v>30.75</c:v>
                </c:pt>
                <c:pt idx="202">
                  <c:v>28.273</c:v>
                </c:pt>
                <c:pt idx="203">
                  <c:v>24.885</c:v>
                </c:pt>
                <c:pt idx="204">
                  <c:v>24.299</c:v>
                </c:pt>
                <c:pt idx="205">
                  <c:v>24.248</c:v>
                </c:pt>
                <c:pt idx="206">
                  <c:v>27.161</c:v>
                </c:pt>
                <c:pt idx="207">
                  <c:v>22.347</c:v>
                </c:pt>
                <c:pt idx="208">
                  <c:v>25.116</c:v>
                </c:pt>
                <c:pt idx="209">
                  <c:v>23.702</c:v>
                </c:pt>
                <c:pt idx="210">
                  <c:v>21.186</c:v>
                </c:pt>
                <c:pt idx="211">
                  <c:v>20.793</c:v>
                </c:pt>
                <c:pt idx="212">
                  <c:v>20.674</c:v>
                </c:pt>
                <c:pt idx="213">
                  <c:v>24.088</c:v>
                </c:pt>
                <c:pt idx="214">
                  <c:v>21.852</c:v>
                </c:pt>
                <c:pt idx="215">
                  <c:v>21.637</c:v>
                </c:pt>
                <c:pt idx="216">
                  <c:v>21.471</c:v>
                </c:pt>
                <c:pt idx="217">
                  <c:v>22.918</c:v>
                </c:pt>
                <c:pt idx="218">
                  <c:v>21.383</c:v>
                </c:pt>
                <c:pt idx="219">
                  <c:v>21.673</c:v>
                </c:pt>
                <c:pt idx="220">
                  <c:v>20.617</c:v>
                </c:pt>
                <c:pt idx="221">
                  <c:v>21.257</c:v>
                </c:pt>
                <c:pt idx="222">
                  <c:v>24.507</c:v>
                </c:pt>
                <c:pt idx="223">
                  <c:v>24.366</c:v>
                </c:pt>
                <c:pt idx="224">
                  <c:v>23.215</c:v>
                </c:pt>
                <c:pt idx="225">
                  <c:v>20.385</c:v>
                </c:pt>
                <c:pt idx="226">
                  <c:v>24.241</c:v>
                </c:pt>
                <c:pt idx="227">
                  <c:v>23.899</c:v>
                </c:pt>
                <c:pt idx="228">
                  <c:v>24.367</c:v>
                </c:pt>
                <c:pt idx="229">
                  <c:v>25.129</c:v>
                </c:pt>
                <c:pt idx="230">
                  <c:v>28.654</c:v>
                </c:pt>
                <c:pt idx="231">
                  <c:v>40.852</c:v>
                </c:pt>
                <c:pt idx="232">
                  <c:v>23.006</c:v>
                </c:pt>
                <c:pt idx="233">
                  <c:v>22.372</c:v>
                </c:pt>
                <c:pt idx="234">
                  <c:v>23.2</c:v>
                </c:pt>
                <c:pt idx="235">
                  <c:v>22.722</c:v>
                </c:pt>
                <c:pt idx="236">
                  <c:v>22.835</c:v>
                </c:pt>
                <c:pt idx="237">
                  <c:v>25.473</c:v>
                </c:pt>
                <c:pt idx="238">
                  <c:v>27.83</c:v>
                </c:pt>
                <c:pt idx="239">
                  <c:v>21.643</c:v>
                </c:pt>
                <c:pt idx="240">
                  <c:v>27.345</c:v>
                </c:pt>
                <c:pt idx="241">
                  <c:v>32.793</c:v>
                </c:pt>
                <c:pt idx="242">
                  <c:v>32.12</c:v>
                </c:pt>
                <c:pt idx="243">
                  <c:v>27.976</c:v>
                </c:pt>
                <c:pt idx="244">
                  <c:v>30.399</c:v>
                </c:pt>
                <c:pt idx="245">
                  <c:v>31.627</c:v>
                </c:pt>
                <c:pt idx="246">
                  <c:v>30.23</c:v>
                </c:pt>
                <c:pt idx="247">
                  <c:v>26.502</c:v>
                </c:pt>
                <c:pt idx="248">
                  <c:v>25.86</c:v>
                </c:pt>
              </c:numCache>
            </c:numRef>
          </c:val>
          <c:smooth val="0"/>
        </c:ser>
        <c:ser>
          <c:idx val="1"/>
          <c:order val="1"/>
          <c:tx>
            <c:strRef>
              <c:f>Sheet1!$C$1</c:f>
              <c:strCache>
                <c:ptCount val="1"/>
                <c:pt idx="0">
                  <c:v>VIX</c:v>
                </c:pt>
              </c:strCache>
            </c:strRef>
          </c:tx>
          <c:spPr>
            <a:solidFill>
              <a:srgbClr val="D8452B"/>
            </a:solidFill>
            <a:ln w="22225" cap="flat">
              <a:solidFill>
                <a:srgbClr val="D845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8452B"/>
              </a:solidFill>
              <a:ln w="9525" cap="flat">
                <a:solidFill>
                  <a:srgbClr val="D8452B"/>
                </a:solidFill>
                <a:prstDash val="solid"/>
                <a:round/>
              </a:ln>
              <a:effectLst/>
            </c:spPr>
          </c:marker>
          <c:cat>
            <c:multiLvlStrRef>
              <c:f>Sheet1!$A$2:$A$250</c:f>
              <c:multiLvlStrCache>
                <c:ptCount val="249"/>
                <c:lvl>
                  <c:pt idx="0">
                    <c:v>2006</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2010</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2014</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2018</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2022</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2026</c:v>
                  </c:pt>
                  <c:pt idx="241">
                    <c:v/>
                  </c:pt>
                  <c:pt idx="242">
                    <c:v/>
                  </c:pt>
                  <c:pt idx="243">
                    <c:v/>
                  </c:pt>
                  <c:pt idx="244">
                    <c:v/>
                  </c:pt>
                  <c:pt idx="245">
                    <c:v/>
                  </c:pt>
                  <c:pt idx="246">
                    <c:v/>
                  </c:pt>
                  <c:pt idx="247">
                    <c:v/>
                  </c:pt>
                  <c:pt idx="248">
                    <c:v/>
                  </c:pt>
                </c:lvl>
              </c:multiLvlStrCache>
            </c:multiLvlStrRef>
          </c:cat>
          <c:val>
            <c:numRef>
              <c:f>Sheet1!$C$2:$C$250</c:f>
              <c:numCache>
                <c:formatCode>General</c:formatCode>
                <c:ptCount val="249"/>
                <c:pt idx="0">
                  <c:v>12.083</c:v>
                </c:pt>
                <c:pt idx="1">
                  <c:v>12.471</c:v>
                </c:pt>
                <c:pt idx="2">
                  <c:v>11.694</c:v>
                </c:pt>
                <c:pt idx="3">
                  <c:v>11.847</c:v>
                </c:pt>
                <c:pt idx="4">
                  <c:v>14.455</c:v>
                </c:pt>
                <c:pt idx="5">
                  <c:v>16.919</c:v>
                </c:pt>
                <c:pt idx="6">
                  <c:v>15.326</c:v>
                </c:pt>
                <c:pt idx="7">
                  <c:v>13.352</c:v>
                </c:pt>
                <c:pt idx="8">
                  <c:v>12.184</c:v>
                </c:pt>
                <c:pt idx="9">
                  <c:v>11.306</c:v>
                </c:pt>
                <c:pt idx="10">
                  <c:v>10.818</c:v>
                </c:pt>
                <c:pt idx="11">
                  <c:v>10.964</c:v>
                </c:pt>
                <c:pt idx="12">
                  <c:v>11.043</c:v>
                </c:pt>
                <c:pt idx="13">
                  <c:v>11.155</c:v>
                </c:pt>
                <c:pt idx="14">
                  <c:v>15.163</c:v>
                </c:pt>
                <c:pt idx="15">
                  <c:v>12.933</c:v>
                </c:pt>
                <c:pt idx="16">
                  <c:v>13.298</c:v>
                </c:pt>
                <c:pt idx="17">
                  <c:v>14.948</c:v>
                </c:pt>
                <c:pt idx="18">
                  <c:v>17.273</c:v>
                </c:pt>
                <c:pt idx="19">
                  <c:v>25.026</c:v>
                </c:pt>
                <c:pt idx="20">
                  <c:v>22.199</c:v>
                </c:pt>
                <c:pt idx="21">
                  <c:v>19.116</c:v>
                </c:pt>
                <c:pt idx="22">
                  <c:v>25.582</c:v>
                </c:pt>
                <c:pt idx="23">
                  <c:v>21.651</c:v>
                </c:pt>
                <c:pt idx="24">
                  <c:v>25.816</c:v>
                </c:pt>
                <c:pt idx="25">
                  <c:v>25.456</c:v>
                </c:pt>
                <c:pt idx="26">
                  <c:v>27.104</c:v>
                </c:pt>
                <c:pt idx="27">
                  <c:v>21.563</c:v>
                </c:pt>
                <c:pt idx="28">
                  <c:v>18.303</c:v>
                </c:pt>
                <c:pt idx="29">
                  <c:v>22.11</c:v>
                </c:pt>
                <c:pt idx="30">
                  <c:v>24.322</c:v>
                </c:pt>
                <c:pt idx="31">
                  <c:v>20.696</c:v>
                </c:pt>
                <c:pt idx="32">
                  <c:v>30.239</c:v>
                </c:pt>
                <c:pt idx="33">
                  <c:v>61.177</c:v>
                </c:pt>
                <c:pt idx="34">
                  <c:v>62.669</c:v>
                </c:pt>
                <c:pt idx="35">
                  <c:v>52.405</c:v>
                </c:pt>
                <c:pt idx="36">
                  <c:v>44.683</c:v>
                </c:pt>
                <c:pt idx="37">
                  <c:v>45.571</c:v>
                </c:pt>
                <c:pt idx="38">
                  <c:v>44.795</c:v>
                </c:pt>
                <c:pt idx="39">
                  <c:v>38.064</c:v>
                </c:pt>
                <c:pt idx="40">
                  <c:v>31.978</c:v>
                </c:pt>
                <c:pt idx="41">
                  <c:v>29.14</c:v>
                </c:pt>
                <c:pt idx="42">
                  <c:v>26.163</c:v>
                </c:pt>
                <c:pt idx="43">
                  <c:v>25.337</c:v>
                </c:pt>
                <c:pt idx="44">
                  <c:v>24.927</c:v>
                </c:pt>
                <c:pt idx="45">
                  <c:v>24.252</c:v>
                </c:pt>
                <c:pt idx="46">
                  <c:v>23.789</c:v>
                </c:pt>
                <c:pt idx="47">
                  <c:v>21.24</c:v>
                </c:pt>
                <c:pt idx="48">
                  <c:v>20.643</c:v>
                </c:pt>
                <c:pt idx="49">
                  <c:v>22.54</c:v>
                </c:pt>
                <c:pt idx="50">
                  <c:v>17.767</c:v>
                </c:pt>
                <c:pt idx="51">
                  <c:v>17.424</c:v>
                </c:pt>
                <c:pt idx="52">
                  <c:v>31.93</c:v>
                </c:pt>
                <c:pt idx="53">
                  <c:v>29.916</c:v>
                </c:pt>
                <c:pt idx="54">
                  <c:v>25.565</c:v>
                </c:pt>
                <c:pt idx="55">
                  <c:v>24.746</c:v>
                </c:pt>
                <c:pt idx="56">
                  <c:v>22.518</c:v>
                </c:pt>
                <c:pt idx="57">
                  <c:v>20.373</c:v>
                </c:pt>
                <c:pt idx="58">
                  <c:v>20.096</c:v>
                </c:pt>
                <c:pt idx="59">
                  <c:v>17.57</c:v>
                </c:pt>
                <c:pt idx="60">
                  <c:v>17.316</c:v>
                </c:pt>
                <c:pt idx="61">
                  <c:v>17.43</c:v>
                </c:pt>
                <c:pt idx="62">
                  <c:v>20.723</c:v>
                </c:pt>
                <c:pt idx="63">
                  <c:v>16.244</c:v>
                </c:pt>
                <c:pt idx="64">
                  <c:v>16.911</c:v>
                </c:pt>
                <c:pt idx="65">
                  <c:v>19.153</c:v>
                </c:pt>
                <c:pt idx="66">
                  <c:v>19.227</c:v>
                </c:pt>
                <c:pt idx="67">
                  <c:v>35.029</c:v>
                </c:pt>
                <c:pt idx="68">
                  <c:v>36.53</c:v>
                </c:pt>
                <c:pt idx="69">
                  <c:v>32.829</c:v>
                </c:pt>
                <c:pt idx="70">
                  <c:v>31.942</c:v>
                </c:pt>
                <c:pt idx="71">
                  <c:v>25.048</c:v>
                </c:pt>
                <c:pt idx="72">
                  <c:v>20.228</c:v>
                </c:pt>
                <c:pt idx="73">
                  <c:v>18.42</c:v>
                </c:pt>
                <c:pt idx="74">
                  <c:v>16.167</c:v>
                </c:pt>
                <c:pt idx="75">
                  <c:v>17.823</c:v>
                </c:pt>
                <c:pt idx="76">
                  <c:v>21.002</c:v>
                </c:pt>
                <c:pt idx="77">
                  <c:v>21.131</c:v>
                </c:pt>
                <c:pt idx="78">
                  <c:v>17.565</c:v>
                </c:pt>
                <c:pt idx="79">
                  <c:v>15.69</c:v>
                </c:pt>
                <c:pt idx="80">
                  <c:v>15.285</c:v>
                </c:pt>
                <c:pt idx="81">
                  <c:v>16.276</c:v>
                </c:pt>
                <c:pt idx="82">
                  <c:v>16.702</c:v>
                </c:pt>
                <c:pt idx="83">
                  <c:v>17.307</c:v>
                </c:pt>
                <c:pt idx="84">
                  <c:v>13.505</c:v>
                </c:pt>
                <c:pt idx="85">
                  <c:v>14.073</c:v>
                </c:pt>
                <c:pt idx="86">
                  <c:v>13.032</c:v>
                </c:pt>
                <c:pt idx="87">
                  <c:v>13.967</c:v>
                </c:pt>
                <c:pt idx="88">
                  <c:v>13.494</c:v>
                </c:pt>
                <c:pt idx="89">
                  <c:v>17.272</c:v>
                </c:pt>
                <c:pt idx="90">
                  <c:v>13.975</c:v>
                </c:pt>
                <c:pt idx="91">
                  <c:v>14.21</c:v>
                </c:pt>
                <c:pt idx="92">
                  <c:v>14.692</c:v>
                </c:pt>
                <c:pt idx="93">
                  <c:v>15.408</c:v>
                </c:pt>
                <c:pt idx="94">
                  <c:v>12.924</c:v>
                </c:pt>
                <c:pt idx="95">
                  <c:v>14.192</c:v>
                </c:pt>
                <c:pt idx="96">
                  <c:v>14.241</c:v>
                </c:pt>
                <c:pt idx="97">
                  <c:v>15.47</c:v>
                </c:pt>
                <c:pt idx="98">
                  <c:v>14.837</c:v>
                </c:pt>
                <c:pt idx="99">
                  <c:v>14.198</c:v>
                </c:pt>
                <c:pt idx="100">
                  <c:v>12.475</c:v>
                </c:pt>
                <c:pt idx="101">
                  <c:v>11.541</c:v>
                </c:pt>
                <c:pt idx="102">
                  <c:v>12.296</c:v>
                </c:pt>
                <c:pt idx="103">
                  <c:v>13.492</c:v>
                </c:pt>
                <c:pt idx="104">
                  <c:v>13.467</c:v>
                </c:pt>
                <c:pt idx="105">
                  <c:v>18.059</c:v>
                </c:pt>
                <c:pt idx="106">
                  <c:v>13.413</c:v>
                </c:pt>
                <c:pt idx="107">
                  <c:v>16.292</c:v>
                </c:pt>
                <c:pt idx="108">
                  <c:v>19.12</c:v>
                </c:pt>
                <c:pt idx="109">
                  <c:v>15.904</c:v>
                </c:pt>
                <c:pt idx="110">
                  <c:v>14.813</c:v>
                </c:pt>
                <c:pt idx="111">
                  <c:v>13.495</c:v>
                </c:pt>
                <c:pt idx="112">
                  <c:v>13.338</c:v>
                </c:pt>
                <c:pt idx="113">
                  <c:v>14.34</c:v>
                </c:pt>
                <c:pt idx="114">
                  <c:v>14.353</c:v>
                </c:pt>
                <c:pt idx="115">
                  <c:v>19.428</c:v>
                </c:pt>
                <c:pt idx="116">
                  <c:v>24.377</c:v>
                </c:pt>
                <c:pt idx="117">
                  <c:v>16.79</c:v>
                </c:pt>
                <c:pt idx="118">
                  <c:v>16.21</c:v>
                </c:pt>
                <c:pt idx="119">
                  <c:v>18.025</c:v>
                </c:pt>
                <c:pt idx="120">
                  <c:v>23.718</c:v>
                </c:pt>
                <c:pt idx="121">
                  <c:v>22.517</c:v>
                </c:pt>
                <c:pt idx="122">
                  <c:v>15.849</c:v>
                </c:pt>
                <c:pt idx="123">
                  <c:v>14.3</c:v>
                </c:pt>
                <c:pt idx="124">
                  <c:v>14.853</c:v>
                </c:pt>
                <c:pt idx="125">
                  <c:v>17.775</c:v>
                </c:pt>
                <c:pt idx="126">
                  <c:v>13.159</c:v>
                </c:pt>
                <c:pt idx="127">
                  <c:v>12.4</c:v>
                </c:pt>
                <c:pt idx="128">
                  <c:v>14.22</c:v>
                </c:pt>
                <c:pt idx="129">
                  <c:v>14.585</c:v>
                </c:pt>
                <c:pt idx="130">
                  <c:v>15.236</c:v>
                </c:pt>
                <c:pt idx="131">
                  <c:v>12.472</c:v>
                </c:pt>
                <c:pt idx="132">
                  <c:v>11.608</c:v>
                </c:pt>
                <c:pt idx="133">
                  <c:v>11.531</c:v>
                </c:pt>
                <c:pt idx="134">
                  <c:v>11.898</c:v>
                </c:pt>
                <c:pt idx="135">
                  <c:v>13.136</c:v>
                </c:pt>
                <c:pt idx="136">
                  <c:v>10.862</c:v>
                </c:pt>
                <c:pt idx="137">
                  <c:v>10.514</c:v>
                </c:pt>
                <c:pt idx="138">
                  <c:v>10.264</c:v>
                </c:pt>
                <c:pt idx="139">
                  <c:v>11.976</c:v>
                </c:pt>
                <c:pt idx="140">
                  <c:v>10.438</c:v>
                </c:pt>
                <c:pt idx="141">
                  <c:v>10.125</c:v>
                </c:pt>
                <c:pt idx="142">
                  <c:v>10.54</c:v>
                </c:pt>
                <c:pt idx="143">
                  <c:v>10.265</c:v>
                </c:pt>
                <c:pt idx="144">
                  <c:v>11.062</c:v>
                </c:pt>
                <c:pt idx="145">
                  <c:v>22.465</c:v>
                </c:pt>
                <c:pt idx="146">
                  <c:v>19.024</c:v>
                </c:pt>
                <c:pt idx="147">
                  <c:v>18.268</c:v>
                </c:pt>
                <c:pt idx="148">
                  <c:v>14.125</c:v>
                </c:pt>
                <c:pt idx="149">
                  <c:v>13.678</c:v>
                </c:pt>
                <c:pt idx="150">
                  <c:v>13.148</c:v>
                </c:pt>
                <c:pt idx="151">
                  <c:v>12.547</c:v>
                </c:pt>
                <c:pt idx="152">
                  <c:v>12.911</c:v>
                </c:pt>
                <c:pt idx="153">
                  <c:v>19.352</c:v>
                </c:pt>
                <c:pt idx="154">
                  <c:v>19.389</c:v>
                </c:pt>
                <c:pt idx="155">
                  <c:v>24.953</c:v>
                </c:pt>
                <c:pt idx="156">
                  <c:v>19.572</c:v>
                </c:pt>
                <c:pt idx="157">
                  <c:v>15.235</c:v>
                </c:pt>
                <c:pt idx="158">
                  <c:v>14.485</c:v>
                </c:pt>
                <c:pt idx="159">
                  <c:v>12.949</c:v>
                </c:pt>
                <c:pt idx="160">
                  <c:v>16.722</c:v>
                </c:pt>
                <c:pt idx="161">
                  <c:v>15.836</c:v>
                </c:pt>
                <c:pt idx="162">
                  <c:v>13.306</c:v>
                </c:pt>
                <c:pt idx="163">
                  <c:v>18.979</c:v>
                </c:pt>
                <c:pt idx="164">
                  <c:v>15.559</c:v>
                </c:pt>
                <c:pt idx="165">
                  <c:v>15.467</c:v>
                </c:pt>
                <c:pt idx="166">
                  <c:v>12.524</c:v>
                </c:pt>
                <c:pt idx="167">
                  <c:v>13.757</c:v>
                </c:pt>
                <c:pt idx="168">
                  <c:v>13.941</c:v>
                </c:pt>
                <c:pt idx="169">
                  <c:v>19.629</c:v>
                </c:pt>
                <c:pt idx="170">
                  <c:v>57.737</c:v>
                </c:pt>
                <c:pt idx="171">
                  <c:v>41.454</c:v>
                </c:pt>
                <c:pt idx="172">
                  <c:v>30.897</c:v>
                </c:pt>
                <c:pt idx="173">
                  <c:v>31.12</c:v>
                </c:pt>
                <c:pt idx="174">
                  <c:v>26.84</c:v>
                </c:pt>
                <c:pt idx="175">
                  <c:v>22.89</c:v>
                </c:pt>
                <c:pt idx="176">
                  <c:v>27.648</c:v>
                </c:pt>
                <c:pt idx="177">
                  <c:v>29.439</c:v>
                </c:pt>
                <c:pt idx="178">
                  <c:v>24.996</c:v>
                </c:pt>
                <c:pt idx="179">
                  <c:v>22.374</c:v>
                </c:pt>
                <c:pt idx="180">
                  <c:v>24.91</c:v>
                </c:pt>
                <c:pt idx="181">
                  <c:v>23.141</c:v>
                </c:pt>
                <c:pt idx="182">
                  <c:v>21.843</c:v>
                </c:pt>
                <c:pt idx="183">
                  <c:v>17.416</c:v>
                </c:pt>
                <c:pt idx="184">
                  <c:v>19.76</c:v>
                </c:pt>
                <c:pt idx="185">
                  <c:v>16.957</c:v>
                </c:pt>
                <c:pt idx="186">
                  <c:v>17.603</c:v>
                </c:pt>
                <c:pt idx="187">
                  <c:v>17.473</c:v>
                </c:pt>
                <c:pt idx="188">
                  <c:v>19.825</c:v>
                </c:pt>
                <c:pt idx="189">
                  <c:v>17.871</c:v>
                </c:pt>
                <c:pt idx="190">
                  <c:v>18.5</c:v>
                </c:pt>
                <c:pt idx="191">
                  <c:v>21.355</c:v>
                </c:pt>
                <c:pt idx="192">
                  <c:v>23.181</c:v>
                </c:pt>
                <c:pt idx="193">
                  <c:v>25.748</c:v>
                </c:pt>
                <c:pt idx="194">
                  <c:v>26.969</c:v>
                </c:pt>
                <c:pt idx="195">
                  <c:v>24.374</c:v>
                </c:pt>
                <c:pt idx="196">
                  <c:v>29.446</c:v>
                </c:pt>
                <c:pt idx="197">
                  <c:v>28.1</c:v>
                </c:pt>
                <c:pt idx="198">
                  <c:v>24.868</c:v>
                </c:pt>
                <c:pt idx="199">
                  <c:v>22.17</c:v>
                </c:pt>
                <c:pt idx="200">
                  <c:v>27.406</c:v>
                </c:pt>
                <c:pt idx="201">
                  <c:v>30.006</c:v>
                </c:pt>
                <c:pt idx="202">
                  <c:v>23.436</c:v>
                </c:pt>
                <c:pt idx="203">
                  <c:v>21.784</c:v>
                </c:pt>
                <c:pt idx="204">
                  <c:v>20.203</c:v>
                </c:pt>
                <c:pt idx="205">
                  <c:v>20.062</c:v>
                </c:pt>
                <c:pt idx="206">
                  <c:v>21.644</c:v>
                </c:pt>
                <c:pt idx="207">
                  <c:v>17.818</c:v>
                </c:pt>
                <c:pt idx="208">
                  <c:v>17.644</c:v>
                </c:pt>
                <c:pt idx="209">
                  <c:v>13.994</c:v>
                </c:pt>
                <c:pt idx="210">
                  <c:v>13.944</c:v>
                </c:pt>
                <c:pt idx="211">
                  <c:v>15.854</c:v>
                </c:pt>
                <c:pt idx="212">
                  <c:v>15.241</c:v>
                </c:pt>
                <c:pt idx="213">
                  <c:v>18.888</c:v>
                </c:pt>
                <c:pt idx="214">
                  <c:v>14.077</c:v>
                </c:pt>
                <c:pt idx="215">
                  <c:v>12.718</c:v>
                </c:pt>
                <c:pt idx="216">
                  <c:v>13.395</c:v>
                </c:pt>
                <c:pt idx="217">
                  <c:v>13.944</c:v>
                </c:pt>
                <c:pt idx="218">
                  <c:v>13.788</c:v>
                </c:pt>
                <c:pt idx="219">
                  <c:v>16.138</c:v>
                </c:pt>
                <c:pt idx="220">
                  <c:v>13.09</c:v>
                </c:pt>
                <c:pt idx="221">
                  <c:v>12.677</c:v>
                </c:pt>
                <c:pt idx="222">
                  <c:v>14.47</c:v>
                </c:pt>
                <c:pt idx="223">
                  <c:v>19.312</c:v>
                </c:pt>
                <c:pt idx="224">
                  <c:v>17.769</c:v>
                </c:pt>
                <c:pt idx="225">
                  <c:v>19.961</c:v>
                </c:pt>
                <c:pt idx="226">
                  <c:v>16.121</c:v>
                </c:pt>
                <c:pt idx="227">
                  <c:v>15.866</c:v>
                </c:pt>
                <c:pt idx="228">
                  <c:v>16.746</c:v>
                </c:pt>
                <c:pt idx="229">
                  <c:v>17.052</c:v>
                </c:pt>
                <c:pt idx="230">
                  <c:v>21.841</c:v>
                </c:pt>
                <c:pt idx="231">
                  <c:v>31.966</c:v>
                </c:pt>
                <c:pt idx="232">
                  <c:v>20.457</c:v>
                </c:pt>
                <c:pt idx="233">
                  <c:v>18.215</c:v>
                </c:pt>
                <c:pt idx="234">
                  <c:v>16.331</c:v>
                </c:pt>
                <c:pt idx="235">
                  <c:v>15.75</c:v>
                </c:pt>
                <c:pt idx="236">
                  <c:v>15.773</c:v>
                </c:pt>
                <c:pt idx="237">
                  <c:v>18.087</c:v>
                </c:pt>
                <c:pt idx="238">
                  <c:v>19.904</c:v>
                </c:pt>
                <c:pt idx="239">
                  <c:v>15.548</c:v>
                </c:pt>
                <c:pt idx="240">
                  <c:v>16.046</c:v>
                </c:pt>
                <c:pt idx="241">
                  <c:v>19.102</c:v>
                </c:pt>
                <c:pt idx="242">
                  <c:v>25.597</c:v>
                </c:pt>
                <c:pt idx="243">
                  <c:v>19.812</c:v>
                </c:pt>
                <c:pt idx="244">
                  <c:v>17.27</c:v>
                </c:pt>
                <c:pt idx="245">
                  <c:v>17.96</c:v>
                </c:pt>
                <c:pt idx="246">
                  <c:v>17.149</c:v>
                </c:pt>
                <c:pt idx="247">
                  <c:v>15.23</c:v>
                </c:pt>
                <c:pt idx="248">
                  <c:v>15.839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B6472"/>
                </a:solidFill>
                <a:latin typeface="Calibri"/>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6350" cap="flat">
              <a:solidFill>
                <a:srgbClr val="E6EBEF"/>
              </a:solidFill>
              <a:prstDash val="solid"/>
              <a:round/>
            </a:ln>
          </c:spPr>
        </c:majorGridlines>
        <c:title>
          <c:tx>
            <c:rich>
              <a:bodyPr/>
              <a:lstStyle/>
              <a:p>
                <a:pPr>
                  <a:defRPr sz="900" b="0" i="0" u="none" strike="noStrike">
                    <a:solidFill>
                      <a:srgbClr val="5B6472"/>
                    </a:solidFill>
                    <a:latin typeface="Arial"/>
                  </a:defRPr>
                </a:pPr>
                <a:r>
                  <a:rPr sz="900" b="0" i="0" u="none" strike="noStrike">
                    <a:solidFill>
                      <a:srgbClr val="5B6472"/>
                    </a:solidFill>
                    <a:latin typeface="Arial"/>
                  </a:rPr>
                  <a:t>Annualised volatility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2"/>
                </a:solidFill>
                <a:latin typeface="Calibri"/>
              </a:defRPr>
            </a:pPr>
            <a:endParaRPr lang="en-US"/>
          </a:p>
        </c:txPr>
        <c:crossAx val="2094734554"/>
        <c:crosses val="autoZero"/>
        <c:crossBetween val="between"/>
        <c:majorUnit val="30"/>
      </c:valAx>
      <c:spPr>
        <a:noFill/>
        <a:ln>
          <a:noFill/>
        </a:ln>
        <a:effectLst/>
      </c:spPr>
    </c:plotArea>
    <c:legend>
      <c:legendPos val="b"/>
      <c:overlay val="0"/>
      <c:txPr>
        <a:bodyPr/>
        <a:lstStyle/>
        <a:p>
          <a:pPr>
            <a:defRPr sz="900">
              <a:solidFill>
                <a:srgbClr val="1E293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Reminder of the project: we test whether a volatility-managed portfolio, w = c / v, works out of sample when the variance forecast v comes from a GARCH-LSTM, and when that model is trained on the investor's utility rather than on forecast accuracy.
In our last report (21 September), daily data was the main open issue: with only 252 monthly observations the neural part of the GARCH-LSTM would have to stay very small, and a single monthly number cannot tell us how turbulent a month really was.
This update: that constraint is lifted. We built a daily panel from LSEG Workspace, the platform that replaced Refinitiv: 3,088 US stocks, 5,222 trading days from January 2006 to September 2026, 10.8 million stock-days. The sample covers every major volatility episode of the last twenty years, which is what our spike test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last report listed three workstreams. Here is where each one stands.
Daily data: the Datastream and WRDS requests were still pending on 21 September. We got access to LSEG Workspace, the successor of Refinitiv, and built the daily panel ourselves; the next slides show how and what is in it.
Time series: several of us had little background in time-series econometrics. We went back over what the project uses: properties of returns, volatility clustering, conditional variance and quasi-maximum likelihood estimation of GARCH. The whole team is now on the same page, so everyone can follow and challenge the modelling choices, not only the people writing the code.
GARCH code: the GARCH(1,1) baseline is still being implemented. To be clear, no model has been estimated on the new data yet; that is the next milestone.
The key point: in the report we said that without daily data the neural model would have to stay small and heavily constrained, which would weaken our first test. That constraint no longer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the universe comes from an LSEG screen of US-listed ordinary shares above $250M market cap. We removed OTC listings (illiquid, unreliable caps) and SPACs, whose price is pinned to the cash held in trust, so their volatility is close to zero and would distort any volatility estimate.
Step 2: the hard part was volume. Asking for 20 years of daily data on 3,300 stocks in one go simply timed out, and a naive split (one request per field, per batch of stocks, per period) would have needed about 34,700 requests, far more than LSEG's daily request limit allows. We split the work by type of data instead. Price data (open, high, low, close, volume, bid, ask) goes through LSEG's historical-pricing service, which returns 20 years for one stock in a single request. Fundamentals (total return, market cap) are requested together, 25 stocks and two years at a time. We run four requests in parallel under a rate limit, retry failed requests with increasing waits, and if a request keeps failing we split it in two (fewer stocks, then a shorter period) until it goes through. Every request is saved as soon as it succeeds, so an interruption costs nothing, and the script stops cleanly if it hits the quota. The total is about 5,000 requests.
Step 3: everything is merged into one panel, one row per stock and trading day. The size filter is point-in-time: a stock is in the universe on day t only if its cap on day t−1 is above $250M, to avoid using future information.
Step 4: an automated report checks the data (no duplicates, consistent OHLC, no crossed quotes) and flags splits and extreme returns.
The 27 variables: 9 raw fields per stock from LSEG; 8 computed from them (log return, relative spread, the two range-based variances, log volume, log market cap, the universe flag and the Small / Mid / Large size class); and 10 market columns, the five index series and their daily log returns, identical for all stocks on a given day. Several are transformations of each other, so the independent information is 9 fields per stock plus 5 market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is the share of stock-days in the panel where the field is available.
Total return: the daily return including dividends. It is what the three models (GARCH, GJR-GARCH, GARCH-LSTM) are fitted on, and it gives us about 5,200 daily observations instead of 252 monthly ones. It also gives the strategy's realised returns.
Prices: open, high, low and close give range-based variance. Parkinson = [ln(H/L)]² / (4 ln 2); Garman-Klass = ½[ln(H/L)]² − (2 ln 2 − 1)[ln(C/O)]². Both are several times less noisy than squared close-to-close returns. Summed over a month they measure how volatile the month really was, which a single monthly return cannot do. That is the accuracy benchmark for objective A and what the spike test needs.
Bid and ask: the relative spread is a direct estimate of trading costs, which objective B needs since the utility is computed after costs.
Volume: a liquidity check and a candidate input for the neural part.
Size: market cap lets us value-weight the risky portfolio and keep the universe point-in-time: a stock is included on day t only if its cap on day t−1 is above $250M. Where LSEG's historical cap field is empty (recent IPOs, some restructured entities), we fall back on the field used by the LSEG screener.
Market series: S&amp;P 500 and Russell 2000, in total return and price, give unmanaged benchmarks so the managed and unmanaged portfolios are compared on the same basis. The VIX is forward-looking implied volatility; our LSEG access does not cover it, so it comes from FRED (CBOE data).
Two fields were dropped: stock-level implied volatility exists only for stocks with listed options, and the fixed-income spread field returns nothing for equities.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first look at what the daily data gives us. Each month: the median annualised Garman-Klass volatility across the stocks in the universe, against the VIX. The two move together (correlation 0.93) and peak together in 2008 and March 2020, with further spikes in 2011, 2015–16, 2018, 2022 and April 2025. This matters for our spike test (how quickly each version gets back in after a volatility spike, and whether it was right to): the 2000–2020 monthly course data gives only a handful of such episodes, the daily panel gives many more, each measured precisely.
Next steps. (1) Finish GARCH(1,1) and estimate it on the daily data under objective A (quasi-likelihood), then add objective B (utility after costs). (2) Move on to GJR-GARCH and then the GARCH-LSTM with the same data and trading rule, so the six versions remain comparable. (3) Our design builds models on 2000–2012 and trades 2013–2020 on the course data; the daily panel covers 2006–2026, so we need to fix the build and trading windows accordingly. (4) The stock screen was run on currently listed companies, so firms delisted since 2006 are missing, which understates volatility in crises; we will add historical index members, including delisted firms.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457200"/>
            <a:ext cx="8046720" cy="274320"/>
          </a:xfrm>
          <a:prstGeom prst="rect">
            <a:avLst/>
          </a:prstGeom>
          <a:noFill/>
          <a:ln/>
        </p:spPr>
        <p:txBody>
          <a:bodyPr wrap="square" lIns="0" tIns="0" rIns="0" bIns="0" rtlCol="0" anchor="ctr"/>
          <a:lstStyle/>
          <a:p>
            <a:pPr indent="0" marL="0">
              <a:buNone/>
            </a:pPr>
            <a:r>
              <a:rPr lang="en-US" sz="1100" b="1" spc="200" kern="0" dirty="0">
                <a:solidFill>
                  <a:srgbClr val="3CCFBF"/>
                </a:solidFill>
                <a:latin typeface="Calibri" pitchFamily="34" charset="0"/>
                <a:ea typeface="Calibri" pitchFamily="34" charset="-122"/>
                <a:cs typeface="Calibri" pitchFamily="34" charset="-120"/>
              </a:rPr>
              <a:t>INTRODUCTION TO FINANCIAL ENGINEERING · HANYANG UNIVERSITY</a:t>
            </a:r>
            <a:endParaRPr lang="en-US" sz="1100" dirty="0"/>
          </a:p>
        </p:txBody>
      </p:sp>
      <p:sp>
        <p:nvSpPr>
          <p:cNvPr id="3" name="Text 1"/>
          <p:cNvSpPr txBox="1"/>
          <p:nvPr/>
        </p:nvSpPr>
        <p:spPr>
          <a:xfrm>
            <a:off x="548640" y="822960"/>
            <a:ext cx="8046720" cy="7315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Decision-Focused Volatility Timing</a:t>
            </a:r>
            <a:endParaRPr lang="en-US" sz="3800" dirty="0"/>
          </a:p>
        </p:txBody>
      </p:sp>
      <p:sp>
        <p:nvSpPr>
          <p:cNvPr id="4" name="Text 2"/>
          <p:cNvSpPr txBox="1"/>
          <p:nvPr/>
        </p:nvSpPr>
        <p:spPr>
          <a:xfrm>
            <a:off x="548640" y="1600200"/>
            <a:ext cx="8046720" cy="411480"/>
          </a:xfrm>
          <a:prstGeom prst="rect">
            <a:avLst/>
          </a:prstGeom>
          <a:noFill/>
          <a:ln/>
        </p:spPr>
        <p:txBody>
          <a:bodyPr wrap="square" lIns="0" tIns="0" rIns="0" bIns="0" rtlCol="0" anchor="ctr"/>
          <a:lstStyle/>
          <a:p>
            <a:pPr indent="0" marL="0">
              <a:buNone/>
            </a:pPr>
            <a:r>
              <a:rPr lang="en-US" sz="2000" dirty="0">
                <a:solidFill>
                  <a:srgbClr val="D5DEEA"/>
                </a:solidFill>
                <a:latin typeface="Cambria" pitchFamily="34" charset="0"/>
                <a:ea typeface="Cambria" pitchFamily="34" charset="-122"/>
                <a:cs typeface="Cambria" pitchFamily="34" charset="-120"/>
              </a:rPr>
              <a:t>Progress update: the daily data is in</a:t>
            </a:r>
            <a:endParaRPr lang="en-US" sz="2000" dirty="0"/>
          </a:p>
        </p:txBody>
      </p:sp>
      <p:sp>
        <p:nvSpPr>
          <p:cNvPr id="5" name="Text 3"/>
          <p:cNvSpPr txBox="1"/>
          <p:nvPr/>
        </p:nvSpPr>
        <p:spPr>
          <a:xfrm>
            <a:off x="548640" y="2103120"/>
            <a:ext cx="7680960" cy="548640"/>
          </a:xfrm>
          <a:prstGeom prst="rect">
            <a:avLst/>
          </a:prstGeom>
          <a:noFill/>
          <a:ln/>
        </p:spPr>
        <p:txBody>
          <a:bodyPr wrap="square" lIns="0" tIns="0" rIns="0" bIns="0" rtlCol="0" anchor="ctr"/>
          <a:lstStyle/>
          <a:p>
            <a:pPr indent="0" marL="0">
              <a:buNone/>
            </a:pPr>
            <a:r>
              <a:rPr lang="en-US" sz="1400" dirty="0">
                <a:solidFill>
                  <a:srgbClr val="B8C4D6"/>
                </a:solidFill>
                <a:latin typeface="Calibri" pitchFamily="34" charset="0"/>
                <a:ea typeface="Calibri" pitchFamily="34" charset="-122"/>
                <a:cs typeface="Calibri" pitchFamily="34" charset="-120"/>
              </a:rPr>
              <a:t>A daily panel of US stocks from LSEG Workspace (formerly Refinitiv) to train the GARCH-LSTM on far more than 252 monthly points</a:t>
            </a:r>
            <a:endParaRPr lang="en-US" sz="1400" dirty="0"/>
          </a:p>
        </p:txBody>
      </p:sp>
      <p:sp>
        <p:nvSpPr>
          <p:cNvPr id="6" name="Shape 4"/>
          <p:cNvSpPr/>
          <p:nvPr/>
        </p:nvSpPr>
        <p:spPr>
          <a:xfrm>
            <a:off x="548640" y="2926080"/>
            <a:ext cx="1828800" cy="1234440"/>
          </a:xfrm>
          <a:prstGeom prst="roundRect">
            <a:avLst>
              <a:gd name="adj" fmla="val 5926"/>
            </a:avLst>
          </a:prstGeom>
          <a:solidFill>
            <a:srgbClr val="1A2A42"/>
          </a:solidFill>
          <a:ln w="12700">
            <a:solidFill>
              <a:srgbClr val="1A2A42"/>
            </a:solidFill>
            <a:prstDash val="solid"/>
          </a:ln>
        </p:spPr>
      </p:sp>
      <p:sp>
        <p:nvSpPr>
          <p:cNvPr id="7" name="Text 5"/>
          <p:cNvSpPr txBox="1"/>
          <p:nvPr/>
        </p:nvSpPr>
        <p:spPr>
          <a:xfrm>
            <a:off x="685800" y="3035808"/>
            <a:ext cx="1554480" cy="548640"/>
          </a:xfrm>
          <a:prstGeom prst="rect">
            <a:avLst/>
          </a:prstGeom>
          <a:noFill/>
          <a:ln/>
        </p:spPr>
        <p:txBody>
          <a:bodyPr wrap="square" lIns="0" tIns="0" rIns="0" bIns="0" rtlCol="0" anchor="ctr"/>
          <a:lstStyle/>
          <a:p>
            <a:pPr indent="0" marL="0">
              <a:buNone/>
            </a:pPr>
            <a:r>
              <a:rPr lang="en-US" sz="2800" b="1" dirty="0">
                <a:solidFill>
                  <a:srgbClr val="3CCFBF"/>
                </a:solidFill>
                <a:latin typeface="Cambria" pitchFamily="34" charset="0"/>
                <a:ea typeface="Cambria" pitchFamily="34" charset="-122"/>
                <a:cs typeface="Cambria" pitchFamily="34" charset="-120"/>
              </a:rPr>
              <a:t>5,222</a:t>
            </a:r>
            <a:endParaRPr lang="en-US" sz="2800" dirty="0"/>
          </a:p>
        </p:txBody>
      </p:sp>
      <p:sp>
        <p:nvSpPr>
          <p:cNvPr id="8" name="Text 6"/>
          <p:cNvSpPr txBox="1"/>
          <p:nvPr/>
        </p:nvSpPr>
        <p:spPr>
          <a:xfrm>
            <a:off x="685800" y="3584448"/>
            <a:ext cx="1554480" cy="502920"/>
          </a:xfrm>
          <a:prstGeom prst="rect">
            <a:avLst/>
          </a:prstGeom>
          <a:noFill/>
          <a:ln/>
        </p:spPr>
        <p:txBody>
          <a:bodyPr wrap="square" lIns="0" tIns="0" rIns="0" bIns="0" rtlCol="0" anchor="t"/>
          <a:lstStyle/>
          <a:p>
            <a:pPr indent="0" marL="0">
              <a:buNone/>
            </a:pPr>
            <a:r>
              <a:rPr lang="en-US" sz="1100" dirty="0">
                <a:solidFill>
                  <a:srgbClr val="D5DEEA"/>
                </a:solidFill>
                <a:latin typeface="Calibri" pitchFamily="34" charset="0"/>
                <a:ea typeface="Calibri" pitchFamily="34" charset="-122"/>
                <a:cs typeface="Calibri" pitchFamily="34" charset="-120"/>
              </a:rPr>
              <a:t>trading days, vs 252</a:t>
            </a:r>
            <a:endParaRPr lang="en-US" sz="1100" dirty="0"/>
          </a:p>
          <a:p>
            <a:pPr indent="0" marL="0">
              <a:buNone/>
            </a:pPr>
            <a:r>
              <a:rPr lang="en-US" sz="1100" dirty="0">
                <a:solidFill>
                  <a:srgbClr val="D5DEEA"/>
                </a:solidFill>
                <a:latin typeface="Calibri" pitchFamily="34" charset="0"/>
                <a:ea typeface="Calibri" pitchFamily="34" charset="-122"/>
                <a:cs typeface="Calibri" pitchFamily="34" charset="-120"/>
              </a:rPr>
              <a:t>monthly dates before</a:t>
            </a:r>
            <a:endParaRPr lang="en-US" sz="1100" dirty="0"/>
          </a:p>
        </p:txBody>
      </p:sp>
      <p:sp>
        <p:nvSpPr>
          <p:cNvPr id="9" name="Shape 7"/>
          <p:cNvSpPr/>
          <p:nvPr/>
        </p:nvSpPr>
        <p:spPr>
          <a:xfrm>
            <a:off x="2560320" y="2926080"/>
            <a:ext cx="1828800" cy="1234440"/>
          </a:xfrm>
          <a:prstGeom prst="roundRect">
            <a:avLst>
              <a:gd name="adj" fmla="val 5926"/>
            </a:avLst>
          </a:prstGeom>
          <a:solidFill>
            <a:srgbClr val="1A2A42"/>
          </a:solidFill>
          <a:ln w="12700">
            <a:solidFill>
              <a:srgbClr val="1A2A42"/>
            </a:solidFill>
            <a:prstDash val="solid"/>
          </a:ln>
        </p:spPr>
      </p:sp>
      <p:sp>
        <p:nvSpPr>
          <p:cNvPr id="10" name="Text 8"/>
          <p:cNvSpPr txBox="1"/>
          <p:nvPr/>
        </p:nvSpPr>
        <p:spPr>
          <a:xfrm>
            <a:off x="2697480" y="3035808"/>
            <a:ext cx="1554480" cy="548640"/>
          </a:xfrm>
          <a:prstGeom prst="rect">
            <a:avLst/>
          </a:prstGeom>
          <a:noFill/>
          <a:ln/>
        </p:spPr>
        <p:txBody>
          <a:bodyPr wrap="square" lIns="0" tIns="0" rIns="0" bIns="0" rtlCol="0" anchor="ctr"/>
          <a:lstStyle/>
          <a:p>
            <a:pPr indent="0" marL="0">
              <a:buNone/>
            </a:pPr>
            <a:r>
              <a:rPr lang="en-US" sz="2800" b="1" dirty="0">
                <a:solidFill>
                  <a:srgbClr val="3CCFBF"/>
                </a:solidFill>
                <a:latin typeface="Cambria" pitchFamily="34" charset="0"/>
                <a:ea typeface="Cambria" pitchFamily="34" charset="-122"/>
                <a:cs typeface="Cambria" pitchFamily="34" charset="-120"/>
              </a:rPr>
              <a:t>3,088</a:t>
            </a:r>
            <a:endParaRPr lang="en-US" sz="2800" dirty="0"/>
          </a:p>
        </p:txBody>
      </p:sp>
      <p:sp>
        <p:nvSpPr>
          <p:cNvPr id="11" name="Text 9"/>
          <p:cNvSpPr txBox="1"/>
          <p:nvPr/>
        </p:nvSpPr>
        <p:spPr>
          <a:xfrm>
            <a:off x="2697480" y="3584448"/>
            <a:ext cx="1554480" cy="502920"/>
          </a:xfrm>
          <a:prstGeom prst="rect">
            <a:avLst/>
          </a:prstGeom>
          <a:noFill/>
          <a:ln/>
        </p:spPr>
        <p:txBody>
          <a:bodyPr wrap="square" lIns="0" tIns="0" rIns="0" bIns="0" rtlCol="0" anchor="t"/>
          <a:lstStyle/>
          <a:p>
            <a:pPr indent="0" marL="0">
              <a:buNone/>
            </a:pPr>
            <a:r>
              <a:rPr lang="en-US" sz="1100" dirty="0">
                <a:solidFill>
                  <a:srgbClr val="D5DEEA"/>
                </a:solidFill>
                <a:latin typeface="Calibri" pitchFamily="34" charset="0"/>
                <a:ea typeface="Calibri" pitchFamily="34" charset="-122"/>
                <a:cs typeface="Calibri" pitchFamily="34" charset="-120"/>
              </a:rPr>
              <a:t>US ordinary shares</a:t>
            </a:r>
            <a:endParaRPr lang="en-US" sz="1100" dirty="0"/>
          </a:p>
          <a:p>
            <a:pPr indent="0" marL="0">
              <a:buNone/>
            </a:pPr>
            <a:r>
              <a:rPr lang="en-US" sz="1100" dirty="0">
                <a:solidFill>
                  <a:srgbClr val="D5DEEA"/>
                </a:solidFill>
                <a:latin typeface="Calibri" pitchFamily="34" charset="0"/>
                <a:ea typeface="Calibri" pitchFamily="34" charset="-122"/>
                <a:cs typeface="Calibri" pitchFamily="34" charset="-120"/>
              </a:rPr>
              <a:t>(cap ≥ $250M)</a:t>
            </a:r>
            <a:endParaRPr lang="en-US" sz="1100" dirty="0"/>
          </a:p>
        </p:txBody>
      </p:sp>
      <p:sp>
        <p:nvSpPr>
          <p:cNvPr id="12" name="Shape 10"/>
          <p:cNvSpPr/>
          <p:nvPr/>
        </p:nvSpPr>
        <p:spPr>
          <a:xfrm>
            <a:off x="4572000" y="2926080"/>
            <a:ext cx="1828800" cy="1234440"/>
          </a:xfrm>
          <a:prstGeom prst="roundRect">
            <a:avLst>
              <a:gd name="adj" fmla="val 5926"/>
            </a:avLst>
          </a:prstGeom>
          <a:solidFill>
            <a:srgbClr val="1A2A42"/>
          </a:solidFill>
          <a:ln w="12700">
            <a:solidFill>
              <a:srgbClr val="1A2A42"/>
            </a:solidFill>
            <a:prstDash val="solid"/>
          </a:ln>
        </p:spPr>
      </p:sp>
      <p:sp>
        <p:nvSpPr>
          <p:cNvPr id="13" name="Text 11"/>
          <p:cNvSpPr txBox="1"/>
          <p:nvPr/>
        </p:nvSpPr>
        <p:spPr>
          <a:xfrm>
            <a:off x="4709160" y="3035808"/>
            <a:ext cx="1554480" cy="548640"/>
          </a:xfrm>
          <a:prstGeom prst="rect">
            <a:avLst/>
          </a:prstGeom>
          <a:noFill/>
          <a:ln/>
        </p:spPr>
        <p:txBody>
          <a:bodyPr wrap="square" lIns="0" tIns="0" rIns="0" bIns="0" rtlCol="0" anchor="ctr"/>
          <a:lstStyle/>
          <a:p>
            <a:pPr indent="0" marL="0">
              <a:buNone/>
            </a:pPr>
            <a:r>
              <a:rPr lang="en-US" sz="2800" b="1" dirty="0">
                <a:solidFill>
                  <a:srgbClr val="3CCFBF"/>
                </a:solidFill>
                <a:latin typeface="Cambria" pitchFamily="34" charset="0"/>
                <a:ea typeface="Cambria" pitchFamily="34" charset="-122"/>
                <a:cs typeface="Cambria" pitchFamily="34" charset="-120"/>
              </a:rPr>
              <a:t>10.8M</a:t>
            </a:r>
            <a:endParaRPr lang="en-US" sz="2800" dirty="0"/>
          </a:p>
        </p:txBody>
      </p:sp>
      <p:sp>
        <p:nvSpPr>
          <p:cNvPr id="14" name="Text 12"/>
          <p:cNvSpPr txBox="1"/>
          <p:nvPr/>
        </p:nvSpPr>
        <p:spPr>
          <a:xfrm>
            <a:off x="4709160" y="3584448"/>
            <a:ext cx="1554480" cy="502920"/>
          </a:xfrm>
          <a:prstGeom prst="rect">
            <a:avLst/>
          </a:prstGeom>
          <a:noFill/>
          <a:ln/>
        </p:spPr>
        <p:txBody>
          <a:bodyPr wrap="square" lIns="0" tIns="0" rIns="0" bIns="0" rtlCol="0" anchor="t"/>
          <a:lstStyle/>
          <a:p>
            <a:pPr indent="0" marL="0">
              <a:buNone/>
            </a:pPr>
            <a:r>
              <a:rPr lang="en-US" sz="1100" dirty="0">
                <a:solidFill>
                  <a:srgbClr val="D5DEEA"/>
                </a:solidFill>
                <a:latin typeface="Calibri" pitchFamily="34" charset="0"/>
                <a:ea typeface="Calibri" pitchFamily="34" charset="-122"/>
                <a:cs typeface="Calibri" pitchFamily="34" charset="-120"/>
              </a:rPr>
              <a:t>stock-days,</a:t>
            </a:r>
            <a:endParaRPr lang="en-US" sz="1100" dirty="0"/>
          </a:p>
          <a:p>
            <a:pPr indent="0" marL="0">
              <a:buNone/>
            </a:pPr>
            <a:r>
              <a:rPr lang="en-US" sz="1100" dirty="0">
                <a:solidFill>
                  <a:srgbClr val="D5DEEA"/>
                </a:solidFill>
                <a:latin typeface="Calibri" pitchFamily="34" charset="0"/>
                <a:ea typeface="Calibri" pitchFamily="34" charset="-122"/>
                <a:cs typeface="Calibri" pitchFamily="34" charset="-120"/>
              </a:rPr>
              <a:t>27 variables each</a:t>
            </a:r>
            <a:endParaRPr lang="en-US" sz="1100" dirty="0"/>
          </a:p>
        </p:txBody>
      </p:sp>
      <p:sp>
        <p:nvSpPr>
          <p:cNvPr id="15" name="Shape 13"/>
          <p:cNvSpPr/>
          <p:nvPr/>
        </p:nvSpPr>
        <p:spPr>
          <a:xfrm>
            <a:off x="6583680" y="2926080"/>
            <a:ext cx="1828800" cy="1234440"/>
          </a:xfrm>
          <a:prstGeom prst="roundRect">
            <a:avLst>
              <a:gd name="adj" fmla="val 5926"/>
            </a:avLst>
          </a:prstGeom>
          <a:solidFill>
            <a:srgbClr val="1A2A42"/>
          </a:solidFill>
          <a:ln w="12700">
            <a:solidFill>
              <a:srgbClr val="1A2A42"/>
            </a:solidFill>
            <a:prstDash val="solid"/>
          </a:ln>
        </p:spPr>
      </p:sp>
      <p:sp>
        <p:nvSpPr>
          <p:cNvPr id="16" name="Text 14"/>
          <p:cNvSpPr txBox="1"/>
          <p:nvPr/>
        </p:nvSpPr>
        <p:spPr>
          <a:xfrm>
            <a:off x="6720840" y="3035808"/>
            <a:ext cx="1554480" cy="548640"/>
          </a:xfrm>
          <a:prstGeom prst="rect">
            <a:avLst/>
          </a:prstGeom>
          <a:noFill/>
          <a:ln/>
        </p:spPr>
        <p:txBody>
          <a:bodyPr wrap="square" lIns="0" tIns="0" rIns="0" bIns="0" rtlCol="0" anchor="ctr"/>
          <a:lstStyle/>
          <a:p>
            <a:pPr indent="0" marL="0">
              <a:buNone/>
            </a:pPr>
            <a:r>
              <a:rPr lang="en-US" sz="2800" b="1" dirty="0">
                <a:solidFill>
                  <a:srgbClr val="3CCFBF"/>
                </a:solidFill>
                <a:latin typeface="Cambria" pitchFamily="34" charset="0"/>
                <a:ea typeface="Cambria" pitchFamily="34" charset="-122"/>
                <a:cs typeface="Cambria" pitchFamily="34" charset="-120"/>
              </a:rPr>
              <a:t>2006–26</a:t>
            </a:r>
            <a:endParaRPr lang="en-US" sz="2800" dirty="0"/>
          </a:p>
        </p:txBody>
      </p:sp>
      <p:sp>
        <p:nvSpPr>
          <p:cNvPr id="17" name="Text 15"/>
          <p:cNvSpPr txBox="1"/>
          <p:nvPr/>
        </p:nvSpPr>
        <p:spPr>
          <a:xfrm>
            <a:off x="6720840" y="3584448"/>
            <a:ext cx="1554480" cy="502920"/>
          </a:xfrm>
          <a:prstGeom prst="rect">
            <a:avLst/>
          </a:prstGeom>
          <a:noFill/>
          <a:ln/>
        </p:spPr>
        <p:txBody>
          <a:bodyPr wrap="square" lIns="0" tIns="0" rIns="0" bIns="0" rtlCol="0" anchor="t"/>
          <a:lstStyle/>
          <a:p>
            <a:pPr indent="0" marL="0">
              <a:buNone/>
            </a:pPr>
            <a:r>
              <a:rPr lang="en-US" sz="1100" dirty="0">
                <a:solidFill>
                  <a:srgbClr val="D5DEEA"/>
                </a:solidFill>
                <a:latin typeface="Calibri" pitchFamily="34" charset="0"/>
                <a:ea typeface="Calibri" pitchFamily="34" charset="-122"/>
                <a:cs typeface="Calibri" pitchFamily="34" charset="-120"/>
              </a:rPr>
              <a:t>incl. 2008, 2011, 2020,</a:t>
            </a:r>
            <a:endParaRPr lang="en-US" sz="1100" dirty="0"/>
          </a:p>
          <a:p>
            <a:pPr indent="0" marL="0">
              <a:buNone/>
            </a:pPr>
            <a:r>
              <a:rPr lang="en-US" sz="1100" dirty="0">
                <a:solidFill>
                  <a:srgbClr val="D5DEEA"/>
                </a:solidFill>
                <a:latin typeface="Calibri" pitchFamily="34" charset="0"/>
                <a:ea typeface="Calibri" pitchFamily="34" charset="-122"/>
                <a:cs typeface="Calibri" pitchFamily="34" charset="-120"/>
              </a:rPr>
              <a:t>2022 and 2025 spikes</a:t>
            </a:r>
            <a:endParaRPr lang="en-US" sz="1100" dirty="0"/>
          </a:p>
        </p:txBody>
      </p:sp>
      <p:sp>
        <p:nvSpPr>
          <p:cNvPr id="18" name="Text 16"/>
          <p:cNvSpPr txBox="1"/>
          <p:nvPr/>
        </p:nvSpPr>
        <p:spPr>
          <a:xfrm>
            <a:off x="548640" y="4526280"/>
            <a:ext cx="8046720" cy="274320"/>
          </a:xfrm>
          <a:prstGeom prst="rect">
            <a:avLst/>
          </a:prstGeom>
          <a:noFill/>
          <a:ln/>
        </p:spPr>
        <p:txBody>
          <a:bodyPr wrap="square" lIns="0" tIns="0" rIns="0" bIns="0" rtlCol="0" anchor="ctr"/>
          <a:lstStyle/>
          <a:p>
            <a:pPr indent="0" marL="0">
              <a:buNone/>
            </a:pPr>
            <a:r>
              <a:rPr lang="en-US" sz="1000" dirty="0">
                <a:solidFill>
                  <a:srgbClr val="8E9BB0"/>
                </a:solidFill>
                <a:latin typeface="Calibri" pitchFamily="34" charset="0"/>
                <a:ea typeface="Calibri" pitchFamily="34" charset="-122"/>
                <a:cs typeface="Calibri" pitchFamily="34" charset="-120"/>
              </a:rPr>
              <a:t>Team 6: Ayush, Farres, Robin and Zheru · Supervised by Prof. Song Jae Wook · 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rgbClr val="0F1B2D"/>
                </a:solidFill>
                <a:latin typeface="Cambria" pitchFamily="34" charset="0"/>
                <a:ea typeface="Cambria" pitchFamily="34" charset="-122"/>
                <a:cs typeface="Cambria" pitchFamily="34" charset="-120"/>
              </a:rPr>
              <a:t>Since the 21 September report</a:t>
            </a:r>
            <a:endParaRPr lang="en-US" sz="2600" dirty="0"/>
          </a:p>
        </p:txBody>
      </p:sp>
      <p:sp>
        <p:nvSpPr>
          <p:cNvPr id="3" name="Shape 1"/>
          <p:cNvSpPr/>
          <p:nvPr/>
        </p:nvSpPr>
        <p:spPr>
          <a:xfrm>
            <a:off x="457200" y="1051560"/>
            <a:ext cx="2624328" cy="3108960"/>
          </a:xfrm>
          <a:prstGeom prst="roundRect">
            <a:avLst>
              <a:gd name="adj" fmla="val 2787"/>
            </a:avLst>
          </a:prstGeom>
          <a:solidFill>
            <a:srgbClr val="EEF3F6"/>
          </a:solidFill>
          <a:ln w="12700">
            <a:solidFill>
              <a:srgbClr val="EEF3F6"/>
            </a:solidFill>
            <a:prstDash val="solid"/>
          </a:ln>
        </p:spPr>
      </p:sp>
      <p:sp>
        <p:nvSpPr>
          <p:cNvPr id="4" name="Shape 2"/>
          <p:cNvSpPr/>
          <p:nvPr/>
        </p:nvSpPr>
        <p:spPr>
          <a:xfrm>
            <a:off x="640080" y="1234440"/>
            <a:ext cx="457200" cy="457200"/>
          </a:xfrm>
          <a:prstGeom prst="ellipse">
            <a:avLst/>
          </a:prstGeom>
          <a:solidFill>
            <a:srgbClr val="0F1B2D"/>
          </a:solidFill>
          <a:ln w="12700">
            <a:solidFill>
              <a:srgbClr val="0F1B2D"/>
            </a:solidFill>
            <a:prstDash val="solid"/>
          </a:ln>
        </p:spPr>
      </p:sp>
      <p:pic>
        <p:nvPicPr>
          <p:cNvPr id="5" name="Image 0" descr="preencoded.png">    </p:cNvPr>
          <p:cNvPicPr>
            <a:picLocks noChangeAspect="1"/>
          </p:cNvPicPr>
          <p:nvPr/>
        </p:nvPicPr>
        <p:blipFill>
          <a:blip r:embed="rId1"/>
          <a:stretch>
            <a:fillRect/>
          </a:stretch>
        </p:blipFill>
        <p:spPr>
          <a:xfrm>
            <a:off x="754380" y="1348740"/>
            <a:ext cx="228600" cy="228600"/>
          </a:xfrm>
          <a:prstGeom prst="rect">
            <a:avLst/>
          </a:prstGeom>
        </p:spPr>
      </p:pic>
      <p:sp>
        <p:nvSpPr>
          <p:cNvPr id="6" name="Shape 3"/>
          <p:cNvSpPr/>
          <p:nvPr/>
        </p:nvSpPr>
        <p:spPr>
          <a:xfrm>
            <a:off x="2167128" y="1325880"/>
            <a:ext cx="731520" cy="274320"/>
          </a:xfrm>
          <a:prstGeom prst="roundRect">
            <a:avLst>
              <a:gd name="adj" fmla="val 50000"/>
            </a:avLst>
          </a:prstGeom>
          <a:solidFill>
            <a:srgbClr val="12877C"/>
          </a:solidFill>
          <a:ln w="12700">
            <a:solidFill>
              <a:srgbClr val="12877C"/>
            </a:solidFill>
            <a:prstDash val="solid"/>
          </a:ln>
        </p:spPr>
      </p:sp>
      <p:sp>
        <p:nvSpPr>
          <p:cNvPr id="7" name="Text 4"/>
          <p:cNvSpPr txBox="1"/>
          <p:nvPr/>
        </p:nvSpPr>
        <p:spPr>
          <a:xfrm>
            <a:off x="2167128" y="1325880"/>
            <a:ext cx="7315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Done</a:t>
            </a:r>
            <a:endParaRPr lang="en-US" sz="1000" dirty="0"/>
          </a:p>
        </p:txBody>
      </p:sp>
      <p:sp>
        <p:nvSpPr>
          <p:cNvPr id="8" name="Text 5"/>
          <p:cNvSpPr txBox="1"/>
          <p:nvPr/>
        </p:nvSpPr>
        <p:spPr>
          <a:xfrm>
            <a:off x="640080" y="1828800"/>
            <a:ext cx="2258568" cy="320040"/>
          </a:xfrm>
          <a:prstGeom prst="rect">
            <a:avLst/>
          </a:prstGeom>
          <a:noFill/>
          <a:ln/>
        </p:spPr>
        <p:txBody>
          <a:bodyPr wrap="square" lIns="0" tIns="0" rIns="0" bIns="0" rtlCol="0" anchor="ctr"/>
          <a:lstStyle/>
          <a:p>
            <a:pPr indent="0" marL="0">
              <a:buNone/>
            </a:pPr>
            <a:r>
              <a:rPr lang="en-US" sz="1500" b="1" dirty="0">
                <a:solidFill>
                  <a:srgbClr val="0F1B2D"/>
                </a:solidFill>
                <a:latin typeface="Calibri" pitchFamily="34" charset="0"/>
                <a:ea typeface="Calibri" pitchFamily="34" charset="-122"/>
                <a:cs typeface="Calibri" pitchFamily="34" charset="-120"/>
              </a:rPr>
              <a:t>Daily data</a:t>
            </a:r>
            <a:endParaRPr lang="en-US" sz="1500" dirty="0"/>
          </a:p>
        </p:txBody>
      </p:sp>
      <p:sp>
        <p:nvSpPr>
          <p:cNvPr id="9" name="Text 6"/>
          <p:cNvSpPr txBox="1"/>
          <p:nvPr/>
        </p:nvSpPr>
        <p:spPr>
          <a:xfrm>
            <a:off x="640080" y="2240280"/>
            <a:ext cx="2258568" cy="777240"/>
          </a:xfrm>
          <a:prstGeom prst="rect">
            <a:avLst/>
          </a:prstGeom>
          <a:noFill/>
          <a:ln/>
        </p:spPr>
        <p:txBody>
          <a:bodyPr wrap="square" lIns="0" tIns="0" rIns="0" bIns="0" rtlCol="0" anchor="t"/>
          <a:lstStyle/>
          <a:p>
            <a:pPr indent="0" marL="0">
              <a:buNone/>
            </a:pPr>
            <a:r>
              <a:rPr lang="en-US" sz="900" b="1" spc="100" kern="0" dirty="0">
                <a:solidFill>
                  <a:srgbClr val="5B6472"/>
                </a:solidFill>
                <a:latin typeface="Calibri" pitchFamily="34" charset="0"/>
                <a:ea typeface="Calibri" pitchFamily="34" charset="-122"/>
                <a:cs typeface="Calibri" pitchFamily="34" charset="-120"/>
              </a:rPr>
              <a:t>21 SEPT</a:t>
            </a:r>
            <a:endParaRPr lang="en-US" sz="900" dirty="0"/>
          </a:p>
          <a:p>
            <a:pPr indent="0" marL="0">
              <a:buNone/>
            </a:pPr>
            <a:r>
              <a:rPr lang="en-US" sz="1100" dirty="0">
                <a:solidFill>
                  <a:srgbClr val="5B6472"/>
                </a:solidFill>
                <a:latin typeface="Calibri" pitchFamily="34" charset="0"/>
                <a:ea typeface="Calibri" pitchFamily="34" charset="-122"/>
                <a:cs typeface="Calibri" pitchFamily="34" charset="-120"/>
              </a:rPr>
              <a:t>Main open issue. Datastream and WRDS requests pending.</a:t>
            </a:r>
            <a:endParaRPr lang="en-US" sz="900" dirty="0"/>
          </a:p>
        </p:txBody>
      </p:sp>
      <p:sp>
        <p:nvSpPr>
          <p:cNvPr id="10" name="Shape 7"/>
          <p:cNvSpPr/>
          <p:nvPr/>
        </p:nvSpPr>
        <p:spPr>
          <a:xfrm>
            <a:off x="640080" y="3063240"/>
            <a:ext cx="2258568" cy="0"/>
          </a:xfrm>
          <a:prstGeom prst="line">
            <a:avLst/>
          </a:prstGeom>
          <a:noFill/>
          <a:ln w="12700">
            <a:solidFill>
              <a:srgbClr val="D5DDE3"/>
            </a:solidFill>
            <a:prstDash val="solid"/>
          </a:ln>
        </p:spPr>
      </p:sp>
      <p:sp>
        <p:nvSpPr>
          <p:cNvPr id="11" name="Text 8"/>
          <p:cNvSpPr txBox="1"/>
          <p:nvPr/>
        </p:nvSpPr>
        <p:spPr>
          <a:xfrm>
            <a:off x="640080" y="3154680"/>
            <a:ext cx="2258568" cy="914400"/>
          </a:xfrm>
          <a:prstGeom prst="rect">
            <a:avLst/>
          </a:prstGeom>
          <a:noFill/>
          <a:ln/>
        </p:spPr>
        <p:txBody>
          <a:bodyPr wrap="square" lIns="0" tIns="0" rIns="0" bIns="0" rtlCol="0" anchor="t"/>
          <a:lstStyle/>
          <a:p>
            <a:pPr indent="0" marL="0">
              <a:buNone/>
            </a:pPr>
            <a:r>
              <a:rPr lang="en-US" sz="900" b="1" spc="100" kern="0" dirty="0">
                <a:solidFill>
                  <a:srgbClr val="12877C"/>
                </a:solidFill>
                <a:latin typeface="Calibri" pitchFamily="34" charset="0"/>
                <a:ea typeface="Calibri" pitchFamily="34" charset="-122"/>
                <a:cs typeface="Calibri" pitchFamily="34" charset="-120"/>
              </a:rPr>
              <a:t>NOW</a:t>
            </a:r>
            <a:endParaRPr lang="en-US" sz="900" dirty="0"/>
          </a:p>
          <a:p>
            <a:pPr indent="0" marL="0">
              <a:buNone/>
            </a:pPr>
            <a:r>
              <a:rPr lang="en-US" sz="1100" dirty="0">
                <a:solidFill>
                  <a:srgbClr val="1E293B"/>
                </a:solidFill>
                <a:latin typeface="Calibri" pitchFamily="34" charset="0"/>
                <a:ea typeface="Calibri" pitchFamily="34" charset="-122"/>
                <a:cs typeface="Calibri" pitchFamily="34" charset="-120"/>
              </a:rPr>
              <a:t>Solved. Daily panel from LSEG Workspace: prices, returns, liquidity, size and market series.</a:t>
            </a:r>
            <a:endParaRPr lang="en-US" sz="900" dirty="0"/>
          </a:p>
        </p:txBody>
      </p:sp>
      <p:sp>
        <p:nvSpPr>
          <p:cNvPr id="12" name="Shape 9"/>
          <p:cNvSpPr/>
          <p:nvPr/>
        </p:nvSpPr>
        <p:spPr>
          <a:xfrm>
            <a:off x="3264408" y="1051560"/>
            <a:ext cx="2624328" cy="3108960"/>
          </a:xfrm>
          <a:prstGeom prst="roundRect">
            <a:avLst>
              <a:gd name="adj" fmla="val 2787"/>
            </a:avLst>
          </a:prstGeom>
          <a:solidFill>
            <a:srgbClr val="EEF3F6"/>
          </a:solidFill>
          <a:ln w="12700">
            <a:solidFill>
              <a:srgbClr val="EEF3F6"/>
            </a:solidFill>
            <a:prstDash val="solid"/>
          </a:ln>
        </p:spPr>
      </p:sp>
      <p:sp>
        <p:nvSpPr>
          <p:cNvPr id="13" name="Shape 10"/>
          <p:cNvSpPr/>
          <p:nvPr/>
        </p:nvSpPr>
        <p:spPr>
          <a:xfrm>
            <a:off x="3447288" y="1234440"/>
            <a:ext cx="457200" cy="457200"/>
          </a:xfrm>
          <a:prstGeom prst="ellipse">
            <a:avLst/>
          </a:prstGeom>
          <a:solidFill>
            <a:srgbClr val="0F1B2D"/>
          </a:solidFill>
          <a:ln w="12700">
            <a:solidFill>
              <a:srgbClr val="0F1B2D"/>
            </a:solidFill>
            <a:prstDash val="solid"/>
          </a:ln>
        </p:spPr>
      </p:sp>
      <p:pic>
        <p:nvPicPr>
          <p:cNvPr id="14" name="Image 1" descr="preencoded.png">    </p:cNvPr>
          <p:cNvPicPr>
            <a:picLocks noChangeAspect="1"/>
          </p:cNvPicPr>
          <p:nvPr/>
        </p:nvPicPr>
        <p:blipFill>
          <a:blip r:embed="rId2"/>
          <a:stretch>
            <a:fillRect/>
          </a:stretch>
        </p:blipFill>
        <p:spPr>
          <a:xfrm>
            <a:off x="3561588" y="1348740"/>
            <a:ext cx="228600" cy="228600"/>
          </a:xfrm>
          <a:prstGeom prst="rect">
            <a:avLst/>
          </a:prstGeom>
        </p:spPr>
      </p:pic>
      <p:sp>
        <p:nvSpPr>
          <p:cNvPr id="15" name="Shape 11"/>
          <p:cNvSpPr/>
          <p:nvPr/>
        </p:nvSpPr>
        <p:spPr>
          <a:xfrm>
            <a:off x="4974336" y="1325880"/>
            <a:ext cx="731520" cy="274320"/>
          </a:xfrm>
          <a:prstGeom prst="roundRect">
            <a:avLst>
              <a:gd name="adj" fmla="val 50000"/>
            </a:avLst>
          </a:prstGeom>
          <a:solidFill>
            <a:srgbClr val="12877C"/>
          </a:solidFill>
          <a:ln w="12700">
            <a:solidFill>
              <a:srgbClr val="12877C"/>
            </a:solidFill>
            <a:prstDash val="solid"/>
          </a:ln>
        </p:spPr>
      </p:sp>
      <p:sp>
        <p:nvSpPr>
          <p:cNvPr id="16" name="Text 12"/>
          <p:cNvSpPr txBox="1"/>
          <p:nvPr/>
        </p:nvSpPr>
        <p:spPr>
          <a:xfrm>
            <a:off x="4974336" y="1325880"/>
            <a:ext cx="7315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Done</a:t>
            </a:r>
            <a:endParaRPr lang="en-US" sz="1000" dirty="0"/>
          </a:p>
        </p:txBody>
      </p:sp>
      <p:sp>
        <p:nvSpPr>
          <p:cNvPr id="17" name="Text 13"/>
          <p:cNvSpPr txBox="1"/>
          <p:nvPr/>
        </p:nvSpPr>
        <p:spPr>
          <a:xfrm>
            <a:off x="3447288" y="1828800"/>
            <a:ext cx="2258568" cy="320040"/>
          </a:xfrm>
          <a:prstGeom prst="rect">
            <a:avLst/>
          </a:prstGeom>
          <a:noFill/>
          <a:ln/>
        </p:spPr>
        <p:txBody>
          <a:bodyPr wrap="square" lIns="0" tIns="0" rIns="0" bIns="0" rtlCol="0" anchor="ctr"/>
          <a:lstStyle/>
          <a:p>
            <a:pPr indent="0" marL="0">
              <a:buNone/>
            </a:pPr>
            <a:r>
              <a:rPr lang="en-US" sz="1500" b="1" dirty="0">
                <a:solidFill>
                  <a:srgbClr val="0F1B2D"/>
                </a:solidFill>
                <a:latin typeface="Calibri" pitchFamily="34" charset="0"/>
                <a:ea typeface="Calibri" pitchFamily="34" charset="-122"/>
                <a:cs typeface="Calibri" pitchFamily="34" charset="-120"/>
              </a:rPr>
              <a:t>Time-series foundations</a:t>
            </a:r>
            <a:endParaRPr lang="en-US" sz="1500" dirty="0"/>
          </a:p>
        </p:txBody>
      </p:sp>
      <p:sp>
        <p:nvSpPr>
          <p:cNvPr id="18" name="Text 14"/>
          <p:cNvSpPr txBox="1"/>
          <p:nvPr/>
        </p:nvSpPr>
        <p:spPr>
          <a:xfrm>
            <a:off x="3447288" y="2240280"/>
            <a:ext cx="2258568" cy="777240"/>
          </a:xfrm>
          <a:prstGeom prst="rect">
            <a:avLst/>
          </a:prstGeom>
          <a:noFill/>
          <a:ln/>
        </p:spPr>
        <p:txBody>
          <a:bodyPr wrap="square" lIns="0" tIns="0" rIns="0" bIns="0" rtlCol="0" anchor="t"/>
          <a:lstStyle/>
          <a:p>
            <a:pPr indent="0" marL="0">
              <a:buNone/>
            </a:pPr>
            <a:r>
              <a:rPr lang="en-US" sz="900" b="1" spc="100" kern="0" dirty="0">
                <a:solidFill>
                  <a:srgbClr val="5B6472"/>
                </a:solidFill>
                <a:latin typeface="Calibri" pitchFamily="34" charset="0"/>
                <a:ea typeface="Calibri" pitchFamily="34" charset="-122"/>
                <a:cs typeface="Calibri" pitchFamily="34" charset="-120"/>
              </a:rPr>
              <a:t>21 SEPT</a:t>
            </a:r>
            <a:endParaRPr lang="en-US" sz="900" dirty="0"/>
          </a:p>
          <a:p>
            <a:pPr indent="0" marL="0">
              <a:buNone/>
            </a:pPr>
            <a:r>
              <a:rPr lang="en-US" sz="1100" dirty="0">
                <a:solidFill>
                  <a:srgbClr val="5B6472"/>
                </a:solidFill>
                <a:latin typeface="Calibri" pitchFamily="34" charset="0"/>
                <a:ea typeface="Calibri" pitchFamily="34" charset="-122"/>
                <a:cs typeface="Calibri" pitchFamily="34" charset="-120"/>
              </a:rPr>
              <a:t>Team catching up on return properties, volatility clustering, conditional variance and QMLE.</a:t>
            </a:r>
            <a:endParaRPr lang="en-US" sz="900" dirty="0"/>
          </a:p>
        </p:txBody>
      </p:sp>
      <p:sp>
        <p:nvSpPr>
          <p:cNvPr id="19" name="Shape 15"/>
          <p:cNvSpPr/>
          <p:nvPr/>
        </p:nvSpPr>
        <p:spPr>
          <a:xfrm>
            <a:off x="3447288" y="3063240"/>
            <a:ext cx="2258568" cy="0"/>
          </a:xfrm>
          <a:prstGeom prst="line">
            <a:avLst/>
          </a:prstGeom>
          <a:noFill/>
          <a:ln w="12700">
            <a:solidFill>
              <a:srgbClr val="D5DDE3"/>
            </a:solidFill>
            <a:prstDash val="solid"/>
          </a:ln>
        </p:spPr>
      </p:sp>
      <p:sp>
        <p:nvSpPr>
          <p:cNvPr id="20" name="Text 16"/>
          <p:cNvSpPr txBox="1"/>
          <p:nvPr/>
        </p:nvSpPr>
        <p:spPr>
          <a:xfrm>
            <a:off x="3447288" y="3154680"/>
            <a:ext cx="2258568" cy="914400"/>
          </a:xfrm>
          <a:prstGeom prst="rect">
            <a:avLst/>
          </a:prstGeom>
          <a:noFill/>
          <a:ln/>
        </p:spPr>
        <p:txBody>
          <a:bodyPr wrap="square" lIns="0" tIns="0" rIns="0" bIns="0" rtlCol="0" anchor="t"/>
          <a:lstStyle/>
          <a:p>
            <a:pPr indent="0" marL="0">
              <a:buNone/>
            </a:pPr>
            <a:r>
              <a:rPr lang="en-US" sz="900" b="1" spc="100" kern="0" dirty="0">
                <a:solidFill>
                  <a:srgbClr val="12877C"/>
                </a:solidFill>
                <a:latin typeface="Calibri" pitchFamily="34" charset="0"/>
                <a:ea typeface="Calibri" pitchFamily="34" charset="-122"/>
                <a:cs typeface="Calibri" pitchFamily="34" charset="-120"/>
              </a:rPr>
              <a:t>NOW</a:t>
            </a:r>
            <a:endParaRPr lang="en-US" sz="900" dirty="0"/>
          </a:p>
          <a:p>
            <a:pPr indent="0" marL="0">
              <a:buNone/>
            </a:pPr>
            <a:r>
              <a:rPr lang="en-US" sz="1100" dirty="0">
                <a:solidFill>
                  <a:srgbClr val="1E293B"/>
                </a:solidFill>
                <a:latin typeface="Calibri" pitchFamily="34" charset="0"/>
                <a:ea typeface="Calibri" pitchFamily="34" charset="-122"/>
                <a:cs typeface="Calibri" pitchFamily="34" charset="-120"/>
              </a:rPr>
              <a:t>Whole team on the same page: everyone can follow and question the modelling choices.</a:t>
            </a:r>
            <a:endParaRPr lang="en-US" sz="900" dirty="0"/>
          </a:p>
        </p:txBody>
      </p:sp>
      <p:sp>
        <p:nvSpPr>
          <p:cNvPr id="21" name="Shape 17"/>
          <p:cNvSpPr/>
          <p:nvPr/>
        </p:nvSpPr>
        <p:spPr>
          <a:xfrm>
            <a:off x="6071616" y="1051560"/>
            <a:ext cx="2624328" cy="3108960"/>
          </a:xfrm>
          <a:prstGeom prst="roundRect">
            <a:avLst>
              <a:gd name="adj" fmla="val 2787"/>
            </a:avLst>
          </a:prstGeom>
          <a:solidFill>
            <a:srgbClr val="EEF3F6"/>
          </a:solidFill>
          <a:ln w="12700">
            <a:solidFill>
              <a:srgbClr val="EEF3F6"/>
            </a:solidFill>
            <a:prstDash val="solid"/>
          </a:ln>
        </p:spPr>
      </p:sp>
      <p:sp>
        <p:nvSpPr>
          <p:cNvPr id="22" name="Shape 18"/>
          <p:cNvSpPr/>
          <p:nvPr/>
        </p:nvSpPr>
        <p:spPr>
          <a:xfrm>
            <a:off x="6254496" y="1234440"/>
            <a:ext cx="457200" cy="457200"/>
          </a:xfrm>
          <a:prstGeom prst="ellipse">
            <a:avLst/>
          </a:prstGeom>
          <a:solidFill>
            <a:srgbClr val="0F1B2D"/>
          </a:solidFill>
          <a:ln w="12700">
            <a:solidFill>
              <a:srgbClr val="0F1B2D"/>
            </a:solidFill>
            <a:prstDash val="solid"/>
          </a:ln>
        </p:spPr>
      </p:sp>
      <p:pic>
        <p:nvPicPr>
          <p:cNvPr id="23" name="Image 2" descr="preencoded.png">    </p:cNvPr>
          <p:cNvPicPr>
            <a:picLocks noChangeAspect="1"/>
          </p:cNvPicPr>
          <p:nvPr/>
        </p:nvPicPr>
        <p:blipFill>
          <a:blip r:embed="rId3"/>
          <a:stretch>
            <a:fillRect/>
          </a:stretch>
        </p:blipFill>
        <p:spPr>
          <a:xfrm>
            <a:off x="6368796" y="1348740"/>
            <a:ext cx="228600" cy="228600"/>
          </a:xfrm>
          <a:prstGeom prst="rect">
            <a:avLst/>
          </a:prstGeom>
        </p:spPr>
      </p:pic>
      <p:sp>
        <p:nvSpPr>
          <p:cNvPr id="24" name="Shape 19"/>
          <p:cNvSpPr/>
          <p:nvPr/>
        </p:nvSpPr>
        <p:spPr>
          <a:xfrm>
            <a:off x="7461504" y="1325880"/>
            <a:ext cx="1051560" cy="274320"/>
          </a:xfrm>
          <a:prstGeom prst="roundRect">
            <a:avLst>
              <a:gd name="adj" fmla="val 50000"/>
            </a:avLst>
          </a:prstGeom>
          <a:solidFill>
            <a:srgbClr val="B7791F"/>
          </a:solidFill>
          <a:ln w="12700">
            <a:solidFill>
              <a:srgbClr val="B7791F"/>
            </a:solidFill>
            <a:prstDash val="solid"/>
          </a:ln>
        </p:spPr>
      </p:sp>
      <p:sp>
        <p:nvSpPr>
          <p:cNvPr id="25" name="Text 20"/>
          <p:cNvSpPr txBox="1"/>
          <p:nvPr/>
        </p:nvSpPr>
        <p:spPr>
          <a:xfrm>
            <a:off x="7461504" y="132588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In progress</a:t>
            </a:r>
            <a:endParaRPr lang="en-US" sz="1000" dirty="0"/>
          </a:p>
        </p:txBody>
      </p:sp>
      <p:sp>
        <p:nvSpPr>
          <p:cNvPr id="26" name="Text 21"/>
          <p:cNvSpPr txBox="1"/>
          <p:nvPr/>
        </p:nvSpPr>
        <p:spPr>
          <a:xfrm>
            <a:off x="6254496" y="1828800"/>
            <a:ext cx="2258568" cy="320040"/>
          </a:xfrm>
          <a:prstGeom prst="rect">
            <a:avLst/>
          </a:prstGeom>
          <a:noFill/>
          <a:ln/>
        </p:spPr>
        <p:txBody>
          <a:bodyPr wrap="square" lIns="0" tIns="0" rIns="0" bIns="0" rtlCol="0" anchor="ctr"/>
          <a:lstStyle/>
          <a:p>
            <a:pPr indent="0" marL="0">
              <a:buNone/>
            </a:pPr>
            <a:r>
              <a:rPr lang="en-US" sz="1500" b="1" dirty="0">
                <a:solidFill>
                  <a:srgbClr val="0F1B2D"/>
                </a:solidFill>
                <a:latin typeface="Calibri" pitchFamily="34" charset="0"/>
                <a:ea typeface="Calibri" pitchFamily="34" charset="-122"/>
                <a:cs typeface="Calibri" pitchFamily="34" charset="-120"/>
              </a:rPr>
              <a:t>GARCH(1,1) code</a:t>
            </a:r>
            <a:endParaRPr lang="en-US" sz="1500" dirty="0"/>
          </a:p>
        </p:txBody>
      </p:sp>
      <p:sp>
        <p:nvSpPr>
          <p:cNvPr id="27" name="Text 22"/>
          <p:cNvSpPr txBox="1"/>
          <p:nvPr/>
        </p:nvSpPr>
        <p:spPr>
          <a:xfrm>
            <a:off x="6254496" y="2240280"/>
            <a:ext cx="2258568" cy="777240"/>
          </a:xfrm>
          <a:prstGeom prst="rect">
            <a:avLst/>
          </a:prstGeom>
          <a:noFill/>
          <a:ln/>
        </p:spPr>
        <p:txBody>
          <a:bodyPr wrap="square" lIns="0" tIns="0" rIns="0" bIns="0" rtlCol="0" anchor="t"/>
          <a:lstStyle/>
          <a:p>
            <a:pPr indent="0" marL="0">
              <a:buNone/>
            </a:pPr>
            <a:r>
              <a:rPr lang="en-US" sz="900" b="1" spc="100" kern="0" dirty="0">
                <a:solidFill>
                  <a:srgbClr val="5B6472"/>
                </a:solidFill>
                <a:latin typeface="Calibri" pitchFamily="34" charset="0"/>
                <a:ea typeface="Calibri" pitchFamily="34" charset="-122"/>
                <a:cs typeface="Calibri" pitchFamily="34" charset="-120"/>
              </a:rPr>
              <a:t>21 SEPT</a:t>
            </a:r>
            <a:endParaRPr lang="en-US" sz="900" dirty="0"/>
          </a:p>
          <a:p>
            <a:pPr indent="0" marL="0">
              <a:buNone/>
            </a:pPr>
            <a:r>
              <a:rPr lang="en-US" sz="1100" dirty="0">
                <a:solidFill>
                  <a:srgbClr val="5B6472"/>
                </a:solidFill>
                <a:latin typeface="Calibri" pitchFamily="34" charset="0"/>
                <a:ea typeface="Calibri" pitchFamily="34" charset="-122"/>
                <a:cs typeface="Calibri" pitchFamily="34" charset="-120"/>
              </a:rPr>
              <a:t>First lines written, as the baseline for both objectives.</a:t>
            </a:r>
            <a:endParaRPr lang="en-US" sz="900" dirty="0"/>
          </a:p>
        </p:txBody>
      </p:sp>
      <p:sp>
        <p:nvSpPr>
          <p:cNvPr id="28" name="Shape 23"/>
          <p:cNvSpPr/>
          <p:nvPr/>
        </p:nvSpPr>
        <p:spPr>
          <a:xfrm>
            <a:off x="6254496" y="3063240"/>
            <a:ext cx="2258568" cy="0"/>
          </a:xfrm>
          <a:prstGeom prst="line">
            <a:avLst/>
          </a:prstGeom>
          <a:noFill/>
          <a:ln w="12700">
            <a:solidFill>
              <a:srgbClr val="D5DDE3"/>
            </a:solidFill>
            <a:prstDash val="solid"/>
          </a:ln>
        </p:spPr>
      </p:sp>
      <p:sp>
        <p:nvSpPr>
          <p:cNvPr id="29" name="Text 24"/>
          <p:cNvSpPr txBox="1"/>
          <p:nvPr/>
        </p:nvSpPr>
        <p:spPr>
          <a:xfrm>
            <a:off x="6254496" y="3154680"/>
            <a:ext cx="2258568" cy="914400"/>
          </a:xfrm>
          <a:prstGeom prst="rect">
            <a:avLst/>
          </a:prstGeom>
          <a:noFill/>
          <a:ln/>
        </p:spPr>
        <p:txBody>
          <a:bodyPr wrap="square" lIns="0" tIns="0" rIns="0" bIns="0" rtlCol="0" anchor="t"/>
          <a:lstStyle/>
          <a:p>
            <a:pPr indent="0" marL="0">
              <a:buNone/>
            </a:pPr>
            <a:r>
              <a:rPr lang="en-US" sz="900" b="1" spc="100" kern="0" dirty="0">
                <a:solidFill>
                  <a:srgbClr val="B7791F"/>
                </a:solidFill>
                <a:latin typeface="Calibri" pitchFamily="34" charset="0"/>
                <a:ea typeface="Calibri" pitchFamily="34" charset="-122"/>
                <a:cs typeface="Calibri" pitchFamily="34" charset="-120"/>
              </a:rPr>
              <a:t>NOW</a:t>
            </a:r>
            <a:endParaRPr lang="en-US" sz="900" dirty="0"/>
          </a:p>
          <a:p>
            <a:pPr indent="0" marL="0">
              <a:buNone/>
            </a:pPr>
            <a:r>
              <a:rPr lang="en-US" sz="1100" dirty="0">
                <a:solidFill>
                  <a:srgbClr val="1E293B"/>
                </a:solidFill>
                <a:latin typeface="Calibri" pitchFamily="34" charset="0"/>
                <a:ea typeface="Calibri" pitchFamily="34" charset="-122"/>
                <a:cs typeface="Calibri" pitchFamily="34" charset="-120"/>
              </a:rPr>
              <a:t>Implementation continues. Not yet estimated on the new daily data.</a:t>
            </a:r>
            <a:endParaRPr lang="en-US" sz="900" dirty="0"/>
          </a:p>
        </p:txBody>
      </p:sp>
      <p:sp>
        <p:nvSpPr>
          <p:cNvPr id="30" name="Text 25"/>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200" b="1" dirty="0">
                <a:solidFill>
                  <a:srgbClr val="0F1B2D"/>
                </a:solidFill>
                <a:latin typeface="Calibri" pitchFamily="34" charset="0"/>
                <a:ea typeface="Calibri" pitchFamily="34" charset="-122"/>
                <a:cs typeface="Calibri" pitchFamily="34" charset="-120"/>
              </a:rPr>
              <a:t>Why it matters: </a:t>
            </a:r>
            <a:pPr indent="0" marL="0">
              <a:buNone/>
            </a:pPr>
            <a:r>
              <a:rPr lang="en-US" sz="1200" dirty="0">
                <a:solidFill>
                  <a:srgbClr val="1E293B"/>
                </a:solidFill>
                <a:latin typeface="Calibri" pitchFamily="34" charset="0"/>
                <a:ea typeface="Calibri" pitchFamily="34" charset="-122"/>
                <a:cs typeface="Calibri" pitchFamily="34" charset="-120"/>
              </a:rPr>
              <a:t>the size of the GARCH-LSTM, our first contribution, was limited by the data. That limit is now gone.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rgbClr val="0F1B2D"/>
                </a:solidFill>
                <a:latin typeface="Cambria" pitchFamily="34" charset="0"/>
                <a:ea typeface="Cambria" pitchFamily="34" charset="-122"/>
                <a:cs typeface="Cambria" pitchFamily="34" charset="-120"/>
              </a:rPr>
              <a:t>How we built the daily dataset</a:t>
            </a:r>
            <a:endParaRPr lang="en-US" sz="2600" dirty="0"/>
          </a:p>
        </p:txBody>
      </p:sp>
      <p:sp>
        <p:nvSpPr>
          <p:cNvPr id="3" name="Shape 1"/>
          <p:cNvSpPr/>
          <p:nvPr/>
        </p:nvSpPr>
        <p:spPr>
          <a:xfrm>
            <a:off x="457200" y="960120"/>
            <a:ext cx="1691640" cy="2606040"/>
          </a:xfrm>
          <a:prstGeom prst="roundRect">
            <a:avLst>
              <a:gd name="adj" fmla="val 4324"/>
            </a:avLst>
          </a:prstGeom>
          <a:solidFill>
            <a:srgbClr val="EEF3F6"/>
          </a:solidFill>
          <a:ln w="12700">
            <a:solidFill>
              <a:srgbClr val="EEF3F6"/>
            </a:solidFill>
            <a:prstDash val="solid"/>
          </a:ln>
        </p:spPr>
      </p:sp>
      <p:sp>
        <p:nvSpPr>
          <p:cNvPr id="4" name="Shape 2"/>
          <p:cNvSpPr/>
          <p:nvPr/>
        </p:nvSpPr>
        <p:spPr>
          <a:xfrm>
            <a:off x="594360" y="1097280"/>
            <a:ext cx="402336" cy="402336"/>
          </a:xfrm>
          <a:prstGeom prst="ellipse">
            <a:avLst/>
          </a:prstGeom>
          <a:solidFill>
            <a:srgbClr val="12877C"/>
          </a:solidFill>
          <a:ln w="12700">
            <a:solidFill>
              <a:srgbClr val="12877C"/>
            </a:solidFill>
            <a:prstDash val="solid"/>
          </a:ln>
        </p:spPr>
      </p:sp>
      <p:pic>
        <p:nvPicPr>
          <p:cNvPr id="5" name="Image 0" descr="preencoded.png">    </p:cNvPr>
          <p:cNvPicPr>
            <a:picLocks noChangeAspect="1"/>
          </p:cNvPicPr>
          <p:nvPr/>
        </p:nvPicPr>
        <p:blipFill>
          <a:blip r:embed="rId1"/>
          <a:stretch>
            <a:fillRect/>
          </a:stretch>
        </p:blipFill>
        <p:spPr>
          <a:xfrm>
            <a:off x="694944" y="1197864"/>
            <a:ext cx="201168" cy="201168"/>
          </a:xfrm>
          <a:prstGeom prst="rect">
            <a:avLst/>
          </a:prstGeom>
        </p:spPr>
      </p:pic>
      <p:sp>
        <p:nvSpPr>
          <p:cNvPr id="6" name="Text 3"/>
          <p:cNvSpPr txBox="1"/>
          <p:nvPr/>
        </p:nvSpPr>
        <p:spPr>
          <a:xfrm>
            <a:off x="1078992" y="1097280"/>
            <a:ext cx="960120" cy="402336"/>
          </a:xfrm>
          <a:prstGeom prst="rect">
            <a:avLst/>
          </a:prstGeom>
          <a:noFill/>
          <a:ln/>
        </p:spPr>
        <p:txBody>
          <a:bodyPr wrap="square" lIns="0" tIns="0" rIns="0" bIns="0"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1 · Universe</a:t>
            </a:r>
            <a:endParaRPr lang="en-US" sz="1300" dirty="0"/>
          </a:p>
        </p:txBody>
      </p:sp>
      <p:sp>
        <p:nvSpPr>
          <p:cNvPr id="7" name="Text 4"/>
          <p:cNvSpPr txBox="1"/>
          <p:nvPr/>
        </p:nvSpPr>
        <p:spPr>
          <a:xfrm>
            <a:off x="594360" y="1645920"/>
            <a:ext cx="1444752" cy="1828800"/>
          </a:xfrm>
          <a:prstGeom prst="rect">
            <a:avLst/>
          </a:prstGeom>
          <a:noFill/>
          <a:ln/>
        </p:spPr>
        <p:txBody>
          <a:bodyPr wrap="square" lIns="0" tIns="0" rIns="0" bIns="0" rtlCol="0" anchor="t"/>
          <a:lstStyle/>
          <a:p>
            <a:pPr marL="127000" indent="-1270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LSEG screen: US ordinary shares, cap ≥ $250M</a:t>
            </a:r>
            <a:endParaRPr lang="en-US" sz="1050" dirty="0"/>
          </a:p>
          <a:p>
            <a:pPr marL="127000" indent="-1270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3,327 stocks → 3,088 without 124 OTC listings and 115 SPACs</a:t>
            </a:r>
            <a:endParaRPr lang="en-US" sz="1050" dirty="0"/>
          </a:p>
        </p:txBody>
      </p:sp>
      <p:sp>
        <p:nvSpPr>
          <p:cNvPr id="8" name="Shape 5"/>
          <p:cNvSpPr/>
          <p:nvPr/>
        </p:nvSpPr>
        <p:spPr>
          <a:xfrm>
            <a:off x="2331720" y="960120"/>
            <a:ext cx="2514600" cy="2606040"/>
          </a:xfrm>
          <a:prstGeom prst="roundRect">
            <a:avLst>
              <a:gd name="adj" fmla="val 2909"/>
            </a:avLst>
          </a:prstGeom>
          <a:solidFill>
            <a:srgbClr val="EEF3F6"/>
          </a:solidFill>
          <a:ln w="12700">
            <a:solidFill>
              <a:srgbClr val="EEF3F6"/>
            </a:solidFill>
            <a:prstDash val="solid"/>
          </a:ln>
        </p:spPr>
      </p:sp>
      <p:sp>
        <p:nvSpPr>
          <p:cNvPr id="9" name="Shape 6"/>
          <p:cNvSpPr/>
          <p:nvPr/>
        </p:nvSpPr>
        <p:spPr>
          <a:xfrm>
            <a:off x="2468880" y="1097280"/>
            <a:ext cx="402336" cy="402336"/>
          </a:xfrm>
          <a:prstGeom prst="ellipse">
            <a:avLst/>
          </a:prstGeom>
          <a:solidFill>
            <a:srgbClr val="12877C"/>
          </a:solidFill>
          <a:ln w="12700">
            <a:solidFill>
              <a:srgbClr val="12877C"/>
            </a:solidFill>
            <a:prstDash val="solid"/>
          </a:ln>
        </p:spPr>
      </p:sp>
      <p:pic>
        <p:nvPicPr>
          <p:cNvPr id="10" name="Image 1" descr="preencoded.png">    </p:cNvPr>
          <p:cNvPicPr>
            <a:picLocks noChangeAspect="1"/>
          </p:cNvPicPr>
          <p:nvPr/>
        </p:nvPicPr>
        <p:blipFill>
          <a:blip r:embed="rId2"/>
          <a:stretch>
            <a:fillRect/>
          </a:stretch>
        </p:blipFill>
        <p:spPr>
          <a:xfrm>
            <a:off x="2569464" y="1197864"/>
            <a:ext cx="201168" cy="201168"/>
          </a:xfrm>
          <a:prstGeom prst="rect">
            <a:avLst/>
          </a:prstGeom>
        </p:spPr>
      </p:pic>
      <p:sp>
        <p:nvSpPr>
          <p:cNvPr id="11" name="Text 7"/>
          <p:cNvSpPr txBox="1"/>
          <p:nvPr/>
        </p:nvSpPr>
        <p:spPr>
          <a:xfrm>
            <a:off x="2953512" y="1097280"/>
            <a:ext cx="1783080" cy="402336"/>
          </a:xfrm>
          <a:prstGeom prst="rect">
            <a:avLst/>
          </a:prstGeom>
          <a:noFill/>
          <a:ln/>
        </p:spPr>
        <p:txBody>
          <a:bodyPr wrap="square" lIns="0" tIns="0" rIns="0" bIns="0"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2 · Extraction</a:t>
            </a:r>
            <a:endParaRPr lang="en-US" sz="1300" dirty="0"/>
          </a:p>
        </p:txBody>
      </p:sp>
      <p:sp>
        <p:nvSpPr>
          <p:cNvPr id="12" name="Text 8"/>
          <p:cNvSpPr txBox="1"/>
          <p:nvPr/>
        </p:nvSpPr>
        <p:spPr>
          <a:xfrm>
            <a:off x="2468880" y="1645920"/>
            <a:ext cx="2267712" cy="1828800"/>
          </a:xfrm>
          <a:prstGeom prst="rect">
            <a:avLst/>
          </a:prstGeom>
          <a:noFill/>
          <a:ln/>
        </p:spPr>
        <p:txBody>
          <a:bodyPr wrap="square" lIns="0" tIns="0" rIns="0" bIns="0" rtlCol="0" anchor="t"/>
          <a:lstStyle/>
          <a:p>
            <a:pPr marL="127000" indent="-1270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 single request for 20 years × 3,300 stocks timed out</a:t>
            </a:r>
            <a:endParaRPr lang="en-US" sz="1050" dirty="0"/>
          </a:p>
          <a:p>
            <a:pPr marL="127000" indent="-1270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Prices: one request per stock for the full history</a:t>
            </a:r>
            <a:endParaRPr lang="en-US" sz="1050" dirty="0"/>
          </a:p>
          <a:p>
            <a:pPr marL="127000" indent="-1270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Fundamentals: batches of 25 stocks × 2 years</a:t>
            </a:r>
            <a:endParaRPr lang="en-US" sz="1050" dirty="0"/>
          </a:p>
          <a:p>
            <a:pPr marL="127000" indent="-1270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4 requests in parallel; failed requests retried, then split in two</a:t>
            </a:r>
            <a:endParaRPr lang="en-US" sz="1050" dirty="0"/>
          </a:p>
          <a:p>
            <a:pPr marL="127000" indent="-1270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~5,000 calls instead of ~34,700: fits the daily quota</a:t>
            </a:r>
            <a:endParaRPr lang="en-US" sz="1050" dirty="0"/>
          </a:p>
        </p:txBody>
      </p:sp>
      <p:sp>
        <p:nvSpPr>
          <p:cNvPr id="13" name="Shape 9"/>
          <p:cNvSpPr/>
          <p:nvPr/>
        </p:nvSpPr>
        <p:spPr>
          <a:xfrm>
            <a:off x="5029200" y="960120"/>
            <a:ext cx="1783080" cy="2606040"/>
          </a:xfrm>
          <a:prstGeom prst="roundRect">
            <a:avLst>
              <a:gd name="adj" fmla="val 4103"/>
            </a:avLst>
          </a:prstGeom>
          <a:solidFill>
            <a:srgbClr val="EEF3F6"/>
          </a:solidFill>
          <a:ln w="12700">
            <a:solidFill>
              <a:srgbClr val="EEF3F6"/>
            </a:solidFill>
            <a:prstDash val="solid"/>
          </a:ln>
        </p:spPr>
      </p:sp>
      <p:sp>
        <p:nvSpPr>
          <p:cNvPr id="14" name="Shape 10"/>
          <p:cNvSpPr/>
          <p:nvPr/>
        </p:nvSpPr>
        <p:spPr>
          <a:xfrm>
            <a:off x="5166360" y="1097280"/>
            <a:ext cx="402336" cy="402336"/>
          </a:xfrm>
          <a:prstGeom prst="ellipse">
            <a:avLst/>
          </a:prstGeom>
          <a:solidFill>
            <a:srgbClr val="12877C"/>
          </a:solidFill>
          <a:ln w="12700">
            <a:solidFill>
              <a:srgbClr val="12877C"/>
            </a:solidFill>
            <a:prstDash val="solid"/>
          </a:ln>
        </p:spPr>
      </p:sp>
      <p:pic>
        <p:nvPicPr>
          <p:cNvPr id="15" name="Image 2" descr="preencoded.png">    </p:cNvPr>
          <p:cNvPicPr>
            <a:picLocks noChangeAspect="1"/>
          </p:cNvPicPr>
          <p:nvPr/>
        </p:nvPicPr>
        <p:blipFill>
          <a:blip r:embed="rId3"/>
          <a:stretch>
            <a:fillRect/>
          </a:stretch>
        </p:blipFill>
        <p:spPr>
          <a:xfrm>
            <a:off x="5266944" y="1197864"/>
            <a:ext cx="201168" cy="201168"/>
          </a:xfrm>
          <a:prstGeom prst="rect">
            <a:avLst/>
          </a:prstGeom>
        </p:spPr>
      </p:pic>
      <p:sp>
        <p:nvSpPr>
          <p:cNvPr id="16" name="Text 11"/>
          <p:cNvSpPr txBox="1"/>
          <p:nvPr/>
        </p:nvSpPr>
        <p:spPr>
          <a:xfrm>
            <a:off x="5650992" y="1097280"/>
            <a:ext cx="1051560" cy="402336"/>
          </a:xfrm>
          <a:prstGeom prst="rect">
            <a:avLst/>
          </a:prstGeom>
          <a:noFill/>
          <a:ln/>
        </p:spPr>
        <p:txBody>
          <a:bodyPr wrap="square" lIns="0" tIns="0" rIns="0" bIns="0"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3 · Assembly</a:t>
            </a:r>
            <a:endParaRPr lang="en-US" sz="1300" dirty="0"/>
          </a:p>
        </p:txBody>
      </p:sp>
      <p:sp>
        <p:nvSpPr>
          <p:cNvPr id="17" name="Text 12"/>
          <p:cNvSpPr txBox="1"/>
          <p:nvPr/>
        </p:nvSpPr>
        <p:spPr>
          <a:xfrm>
            <a:off x="5166360" y="1645920"/>
            <a:ext cx="1536192" cy="1828800"/>
          </a:xfrm>
          <a:prstGeom prst="rect">
            <a:avLst/>
          </a:prstGeom>
          <a:noFill/>
          <a:ln/>
        </p:spPr>
        <p:txBody>
          <a:bodyPr wrap="square" lIns="0" tIns="0" rIns="0" bIns="0" rtlCol="0" anchor="t"/>
          <a:lstStyle/>
          <a:p>
            <a:pPr marL="127000" indent="-1270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One row per stock-day: 10.8M rows</a:t>
            </a:r>
            <a:endParaRPr lang="en-US" sz="1050" dirty="0"/>
          </a:p>
          <a:p>
            <a:pPr marL="127000" indent="-1270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Point-in-time size filter (cap of day t−1)</a:t>
            </a:r>
            <a:endParaRPr lang="en-US" sz="1050" dirty="0"/>
          </a:p>
          <a:p>
            <a:pPr marL="127000" indent="-1270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27 variables, detailed below</a:t>
            </a:r>
            <a:endParaRPr lang="en-US" sz="1050" dirty="0"/>
          </a:p>
        </p:txBody>
      </p:sp>
      <p:sp>
        <p:nvSpPr>
          <p:cNvPr id="18" name="Shape 13"/>
          <p:cNvSpPr/>
          <p:nvPr/>
        </p:nvSpPr>
        <p:spPr>
          <a:xfrm>
            <a:off x="6995160" y="960120"/>
            <a:ext cx="1691640" cy="2606040"/>
          </a:xfrm>
          <a:prstGeom prst="roundRect">
            <a:avLst>
              <a:gd name="adj" fmla="val 4324"/>
            </a:avLst>
          </a:prstGeom>
          <a:solidFill>
            <a:srgbClr val="EEF3F6"/>
          </a:solidFill>
          <a:ln w="12700">
            <a:solidFill>
              <a:srgbClr val="EEF3F6"/>
            </a:solidFill>
            <a:prstDash val="solid"/>
          </a:ln>
        </p:spPr>
      </p:sp>
      <p:sp>
        <p:nvSpPr>
          <p:cNvPr id="19" name="Shape 14"/>
          <p:cNvSpPr/>
          <p:nvPr/>
        </p:nvSpPr>
        <p:spPr>
          <a:xfrm>
            <a:off x="7132320" y="1097280"/>
            <a:ext cx="402336" cy="402336"/>
          </a:xfrm>
          <a:prstGeom prst="ellipse">
            <a:avLst/>
          </a:prstGeom>
          <a:solidFill>
            <a:srgbClr val="12877C"/>
          </a:solidFill>
          <a:ln w="12700">
            <a:solidFill>
              <a:srgbClr val="12877C"/>
            </a:solidFill>
            <a:prstDash val="solid"/>
          </a:ln>
        </p:spPr>
      </p:sp>
      <p:pic>
        <p:nvPicPr>
          <p:cNvPr id="20" name="Image 3" descr="preencoded.png">    </p:cNvPr>
          <p:cNvPicPr>
            <a:picLocks noChangeAspect="1"/>
          </p:cNvPicPr>
          <p:nvPr/>
        </p:nvPicPr>
        <p:blipFill>
          <a:blip r:embed="rId4"/>
          <a:stretch>
            <a:fillRect/>
          </a:stretch>
        </p:blipFill>
        <p:spPr>
          <a:xfrm>
            <a:off x="7232904" y="1197864"/>
            <a:ext cx="201168" cy="201168"/>
          </a:xfrm>
          <a:prstGeom prst="rect">
            <a:avLst/>
          </a:prstGeom>
        </p:spPr>
      </p:pic>
      <p:sp>
        <p:nvSpPr>
          <p:cNvPr id="21" name="Text 15"/>
          <p:cNvSpPr txBox="1"/>
          <p:nvPr/>
        </p:nvSpPr>
        <p:spPr>
          <a:xfrm>
            <a:off x="7616952" y="1097280"/>
            <a:ext cx="960120" cy="402336"/>
          </a:xfrm>
          <a:prstGeom prst="rect">
            <a:avLst/>
          </a:prstGeom>
          <a:noFill/>
          <a:ln/>
        </p:spPr>
        <p:txBody>
          <a:bodyPr wrap="square" lIns="0" tIns="0" rIns="0" bIns="0" rtlCol="0" anchor="ctr"/>
          <a:lstStyle/>
          <a:p>
            <a:pPr indent="0" marL="0">
              <a:buNone/>
            </a:pPr>
            <a:r>
              <a:rPr lang="en-US" sz="1300" b="1" dirty="0">
                <a:solidFill>
                  <a:srgbClr val="0F1B2D"/>
                </a:solidFill>
                <a:latin typeface="Calibri" pitchFamily="34" charset="0"/>
                <a:ea typeface="Calibri" pitchFamily="34" charset="-122"/>
                <a:cs typeface="Calibri" pitchFamily="34" charset="-120"/>
              </a:rPr>
              <a:t>4 · Quality control</a:t>
            </a:r>
            <a:endParaRPr lang="en-US" sz="1300" dirty="0"/>
          </a:p>
        </p:txBody>
      </p:sp>
      <p:sp>
        <p:nvSpPr>
          <p:cNvPr id="22" name="Text 16"/>
          <p:cNvSpPr txBox="1"/>
          <p:nvPr/>
        </p:nvSpPr>
        <p:spPr>
          <a:xfrm>
            <a:off x="7132320" y="1645920"/>
            <a:ext cx="1444752" cy="1828800"/>
          </a:xfrm>
          <a:prstGeom prst="rect">
            <a:avLst/>
          </a:prstGeom>
          <a:noFill/>
          <a:ln/>
        </p:spPr>
        <p:txBody>
          <a:bodyPr wrap="square" lIns="0" tIns="0" rIns="0" bIns="0" rtlCol="0" anchor="t"/>
          <a:lstStyle/>
          <a:p>
            <a:pPr marL="127000" indent="-1270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0 duplicates, 0 High &lt; Low, 0 crossed quotes</a:t>
            </a:r>
            <a:endParaRPr lang="en-US" sz="1050" dirty="0"/>
          </a:p>
          <a:p>
            <a:pPr marL="127000" indent="-1270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Split and extreme-return flags</a:t>
            </a:r>
            <a:endParaRPr lang="en-US" sz="1050" dirty="0"/>
          </a:p>
          <a:p>
            <a:pPr marL="127000" indent="-1270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Per-stock dashboard</a:t>
            </a:r>
            <a:endParaRPr lang="en-US" sz="1050" dirty="0"/>
          </a:p>
        </p:txBody>
      </p:sp>
      <p:sp>
        <p:nvSpPr>
          <p:cNvPr id="23" name="Shape 17"/>
          <p:cNvSpPr/>
          <p:nvPr/>
        </p:nvSpPr>
        <p:spPr>
          <a:xfrm>
            <a:off x="457200" y="3730752"/>
            <a:ext cx="2624328" cy="1097280"/>
          </a:xfrm>
          <a:prstGeom prst="roundRect">
            <a:avLst>
              <a:gd name="adj" fmla="val 6667"/>
            </a:avLst>
          </a:prstGeom>
          <a:solidFill>
            <a:srgbClr val="FFFFFF"/>
          </a:solidFill>
          <a:ln w="12700">
            <a:solidFill>
              <a:srgbClr val="D5DDE3"/>
            </a:solidFill>
            <a:prstDash val="solid"/>
          </a:ln>
        </p:spPr>
      </p:sp>
      <p:sp>
        <p:nvSpPr>
          <p:cNvPr id="24" name="Text 18"/>
          <p:cNvSpPr txBox="1"/>
          <p:nvPr/>
        </p:nvSpPr>
        <p:spPr>
          <a:xfrm>
            <a:off x="594360" y="3822192"/>
            <a:ext cx="548640" cy="457200"/>
          </a:xfrm>
          <a:prstGeom prst="rect">
            <a:avLst/>
          </a:prstGeom>
          <a:noFill/>
          <a:ln/>
        </p:spPr>
        <p:txBody>
          <a:bodyPr wrap="square" lIns="0" tIns="0" rIns="0" bIns="0" rtlCol="0" anchor="ctr"/>
          <a:lstStyle/>
          <a:p>
            <a:pPr indent="0" marL="0">
              <a:buNone/>
            </a:pPr>
            <a:r>
              <a:rPr lang="en-US" sz="2600" b="1" dirty="0">
                <a:solidFill>
                  <a:srgbClr val="D8452B"/>
                </a:solidFill>
                <a:latin typeface="Cambria" pitchFamily="34" charset="0"/>
                <a:ea typeface="Cambria" pitchFamily="34" charset="-122"/>
                <a:cs typeface="Cambria" pitchFamily="34" charset="-120"/>
              </a:rPr>
              <a:t>9</a:t>
            </a:r>
            <a:endParaRPr lang="en-US" sz="2600" dirty="0"/>
          </a:p>
        </p:txBody>
      </p:sp>
      <p:sp>
        <p:nvSpPr>
          <p:cNvPr id="25" name="Text 19"/>
          <p:cNvSpPr txBox="1"/>
          <p:nvPr/>
        </p:nvSpPr>
        <p:spPr>
          <a:xfrm>
            <a:off x="1143000" y="3822192"/>
            <a:ext cx="1801368" cy="457200"/>
          </a:xfrm>
          <a:prstGeom prst="rect">
            <a:avLst/>
          </a:prstGeom>
          <a:noFill/>
          <a:ln/>
        </p:spPr>
        <p:txBody>
          <a:bodyPr wrap="square" lIns="0" tIns="0" rIns="0" bIns="0" rtlCol="0" anchor="ctr"/>
          <a:lstStyle/>
          <a:p>
            <a:pPr indent="0" marL="0">
              <a:buNone/>
            </a:pPr>
            <a:r>
              <a:rPr lang="en-US" sz="1200" b="1" dirty="0">
                <a:solidFill>
                  <a:srgbClr val="0F1B2D"/>
                </a:solidFill>
                <a:latin typeface="Calibri" pitchFamily="34" charset="0"/>
                <a:ea typeface="Calibri" pitchFamily="34" charset="-122"/>
                <a:cs typeface="Calibri" pitchFamily="34" charset="-120"/>
              </a:rPr>
              <a:t>LSEG fields per stock</a:t>
            </a:r>
            <a:endParaRPr lang="en-US" sz="1200" dirty="0"/>
          </a:p>
        </p:txBody>
      </p:sp>
      <p:sp>
        <p:nvSpPr>
          <p:cNvPr id="26" name="Text 20"/>
          <p:cNvSpPr txBox="1"/>
          <p:nvPr/>
        </p:nvSpPr>
        <p:spPr>
          <a:xfrm>
            <a:off x="594360" y="4297680"/>
            <a:ext cx="2350008" cy="45720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Open, High, Low, Close, Volume, Bid, Ask, Total return, Market cap</a:t>
            </a:r>
            <a:endParaRPr lang="en-US" sz="950" dirty="0"/>
          </a:p>
        </p:txBody>
      </p:sp>
      <p:sp>
        <p:nvSpPr>
          <p:cNvPr id="27" name="Shape 21"/>
          <p:cNvSpPr/>
          <p:nvPr/>
        </p:nvSpPr>
        <p:spPr>
          <a:xfrm>
            <a:off x="3264408" y="3730752"/>
            <a:ext cx="2624328" cy="1097280"/>
          </a:xfrm>
          <a:prstGeom prst="roundRect">
            <a:avLst>
              <a:gd name="adj" fmla="val 6667"/>
            </a:avLst>
          </a:prstGeom>
          <a:solidFill>
            <a:srgbClr val="FFFFFF"/>
          </a:solidFill>
          <a:ln w="12700">
            <a:solidFill>
              <a:srgbClr val="D5DDE3"/>
            </a:solidFill>
            <a:prstDash val="solid"/>
          </a:ln>
        </p:spPr>
      </p:sp>
      <p:sp>
        <p:nvSpPr>
          <p:cNvPr id="28" name="Text 22"/>
          <p:cNvSpPr txBox="1"/>
          <p:nvPr/>
        </p:nvSpPr>
        <p:spPr>
          <a:xfrm>
            <a:off x="3401568" y="3822192"/>
            <a:ext cx="548640" cy="457200"/>
          </a:xfrm>
          <a:prstGeom prst="rect">
            <a:avLst/>
          </a:prstGeom>
          <a:noFill/>
          <a:ln/>
        </p:spPr>
        <p:txBody>
          <a:bodyPr wrap="square" lIns="0" tIns="0" rIns="0" bIns="0" rtlCol="0" anchor="ctr"/>
          <a:lstStyle/>
          <a:p>
            <a:pPr indent="0" marL="0">
              <a:buNone/>
            </a:pPr>
            <a:r>
              <a:rPr lang="en-US" sz="2600" b="1" dirty="0">
                <a:solidFill>
                  <a:srgbClr val="D8452B"/>
                </a:solidFill>
                <a:latin typeface="Cambria" pitchFamily="34" charset="0"/>
                <a:ea typeface="Cambria" pitchFamily="34" charset="-122"/>
                <a:cs typeface="Cambria" pitchFamily="34" charset="-120"/>
              </a:rPr>
              <a:t>8</a:t>
            </a:r>
            <a:endParaRPr lang="en-US" sz="2600" dirty="0"/>
          </a:p>
        </p:txBody>
      </p:sp>
      <p:sp>
        <p:nvSpPr>
          <p:cNvPr id="29" name="Text 23"/>
          <p:cNvSpPr txBox="1"/>
          <p:nvPr/>
        </p:nvSpPr>
        <p:spPr>
          <a:xfrm>
            <a:off x="3950208" y="3822192"/>
            <a:ext cx="1801368" cy="457200"/>
          </a:xfrm>
          <a:prstGeom prst="rect">
            <a:avLst/>
          </a:prstGeom>
          <a:noFill/>
          <a:ln/>
        </p:spPr>
        <p:txBody>
          <a:bodyPr wrap="square" lIns="0" tIns="0" rIns="0" bIns="0" rtlCol="0" anchor="ctr"/>
          <a:lstStyle/>
          <a:p>
            <a:pPr indent="0" marL="0">
              <a:buNone/>
            </a:pPr>
            <a:r>
              <a:rPr lang="en-US" sz="1200" b="1" dirty="0">
                <a:solidFill>
                  <a:srgbClr val="0F1B2D"/>
                </a:solidFill>
                <a:latin typeface="Calibri" pitchFamily="34" charset="0"/>
                <a:ea typeface="Calibri" pitchFamily="34" charset="-122"/>
                <a:cs typeface="Calibri" pitchFamily="34" charset="-120"/>
              </a:rPr>
              <a:t>computed per stock</a:t>
            </a:r>
            <a:endParaRPr lang="en-US" sz="1200" dirty="0"/>
          </a:p>
        </p:txBody>
      </p:sp>
      <p:sp>
        <p:nvSpPr>
          <p:cNvPr id="30" name="Text 24"/>
          <p:cNvSpPr txBox="1"/>
          <p:nvPr/>
        </p:nvSpPr>
        <p:spPr>
          <a:xfrm>
            <a:off x="3401568" y="4297680"/>
            <a:ext cx="2350008" cy="45720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Log return, relative spread, Parkinson variance, Garman-Klass variance, log volume, log market cap, universe flag, size class</a:t>
            </a:r>
            <a:endParaRPr lang="en-US" sz="950" dirty="0"/>
          </a:p>
        </p:txBody>
      </p:sp>
      <p:sp>
        <p:nvSpPr>
          <p:cNvPr id="31" name="Shape 25"/>
          <p:cNvSpPr/>
          <p:nvPr/>
        </p:nvSpPr>
        <p:spPr>
          <a:xfrm>
            <a:off x="6071616" y="3730752"/>
            <a:ext cx="2624328" cy="1097280"/>
          </a:xfrm>
          <a:prstGeom prst="roundRect">
            <a:avLst>
              <a:gd name="adj" fmla="val 6667"/>
            </a:avLst>
          </a:prstGeom>
          <a:solidFill>
            <a:srgbClr val="FFFFFF"/>
          </a:solidFill>
          <a:ln w="12700">
            <a:solidFill>
              <a:srgbClr val="D5DDE3"/>
            </a:solidFill>
            <a:prstDash val="solid"/>
          </a:ln>
        </p:spPr>
      </p:sp>
      <p:sp>
        <p:nvSpPr>
          <p:cNvPr id="32" name="Text 26"/>
          <p:cNvSpPr txBox="1"/>
          <p:nvPr/>
        </p:nvSpPr>
        <p:spPr>
          <a:xfrm>
            <a:off x="6208776" y="3822192"/>
            <a:ext cx="548640" cy="457200"/>
          </a:xfrm>
          <a:prstGeom prst="rect">
            <a:avLst/>
          </a:prstGeom>
          <a:noFill/>
          <a:ln/>
        </p:spPr>
        <p:txBody>
          <a:bodyPr wrap="square" lIns="0" tIns="0" rIns="0" bIns="0" rtlCol="0" anchor="ctr"/>
          <a:lstStyle/>
          <a:p>
            <a:pPr indent="0" marL="0">
              <a:buNone/>
            </a:pPr>
            <a:r>
              <a:rPr lang="en-US" sz="2600" b="1" dirty="0">
                <a:solidFill>
                  <a:srgbClr val="D8452B"/>
                </a:solidFill>
                <a:latin typeface="Cambria" pitchFamily="34" charset="0"/>
                <a:ea typeface="Cambria" pitchFamily="34" charset="-122"/>
                <a:cs typeface="Cambria" pitchFamily="34" charset="-120"/>
              </a:rPr>
              <a:t>10</a:t>
            </a:r>
            <a:endParaRPr lang="en-US" sz="2600" dirty="0"/>
          </a:p>
        </p:txBody>
      </p:sp>
      <p:sp>
        <p:nvSpPr>
          <p:cNvPr id="33" name="Text 27"/>
          <p:cNvSpPr txBox="1"/>
          <p:nvPr/>
        </p:nvSpPr>
        <p:spPr>
          <a:xfrm>
            <a:off x="6757416" y="3822192"/>
            <a:ext cx="1801368" cy="457200"/>
          </a:xfrm>
          <a:prstGeom prst="rect">
            <a:avLst/>
          </a:prstGeom>
          <a:noFill/>
          <a:ln/>
        </p:spPr>
        <p:txBody>
          <a:bodyPr wrap="square" lIns="0" tIns="0" rIns="0" bIns="0" rtlCol="0" anchor="ctr"/>
          <a:lstStyle/>
          <a:p>
            <a:pPr indent="0" marL="0">
              <a:buNone/>
            </a:pPr>
            <a:r>
              <a:rPr lang="en-US" sz="1200" b="1" dirty="0">
                <a:solidFill>
                  <a:srgbClr val="0F1B2D"/>
                </a:solidFill>
                <a:latin typeface="Calibri" pitchFamily="34" charset="0"/>
                <a:ea typeface="Calibri" pitchFamily="34" charset="-122"/>
                <a:cs typeface="Calibri" pitchFamily="34" charset="-120"/>
              </a:rPr>
              <a:t>market series</a:t>
            </a:r>
            <a:endParaRPr lang="en-US" sz="1200" dirty="0"/>
          </a:p>
        </p:txBody>
      </p:sp>
      <p:sp>
        <p:nvSpPr>
          <p:cNvPr id="34" name="Text 28"/>
          <p:cNvSpPr txBox="1"/>
          <p:nvPr/>
        </p:nvSpPr>
        <p:spPr>
          <a:xfrm>
            <a:off x="6208776" y="4297680"/>
            <a:ext cx="2350008" cy="45720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S&amp;P 500, S&amp;P 500 TR, Russell 2000, Russell 2000 TR, VIX, and the daily log return of each</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rgbClr val="0F1B2D"/>
                </a:solidFill>
                <a:latin typeface="Cambria" pitchFamily="34" charset="0"/>
                <a:ea typeface="Cambria" pitchFamily="34" charset="-122"/>
                <a:cs typeface="Cambria" pitchFamily="34" charset="-120"/>
              </a:rPr>
              <a:t>Which LSEG fields we use, and why</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188720"/>
                <a:gridCol w="1691640"/>
                <a:gridCol w="2331720"/>
                <a:gridCol w="301752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Block</a:t>
                      </a:r>
                      <a:endParaRPr lang="en-US" sz="11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0F1B2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LSEG fields</a:t>
                      </a:r>
                      <a:endParaRPr lang="en-US" sz="11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0F1B2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we compute</a:t>
                      </a:r>
                      <a:endParaRPr lang="en-US" sz="11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0F1B2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 in the project</a:t>
                      </a:r>
                      <a:endParaRPr lang="en-US" sz="11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0F1B2D"/>
                    </a:solidFill>
                  </a:tcPr>
                </a:tc>
              </a:tr>
              <a:tr h="475488">
                <a:tc>
                  <a:txBody>
                    <a:bodyPr/>
                    <a:lstStyle/>
                    <a:p>
                      <a:pPr indent="0" marL="0">
                        <a:buNone/>
                      </a:pPr>
                      <a:r>
                        <a:rPr lang="en-US" sz="1050" b="1" dirty="0">
                          <a:solidFill>
                            <a:srgbClr val="1E293B"/>
                          </a:solidFill>
                          <a:latin typeface="Calibri" pitchFamily="34" charset="0"/>
                          <a:ea typeface="Calibri" pitchFamily="34" charset="-122"/>
                          <a:cs typeface="Calibri" pitchFamily="34" charset="-120"/>
                        </a:rPr>
                        <a:t>Total return</a:t>
                      </a:r>
                      <a:endParaRPr lang="en-US" sz="1200" dirty="0">
                        <a:latin typeface="Calibri" charset="0"/>
                        <a:ea typeface="Calibri" charset="0"/>
                        <a:cs typeface="Calibri" charset="0"/>
                      </a:endParaRPr>
                    </a:p>
                    <a:p>
                      <a:pPr indent="0" marL="0">
                        <a:buNone/>
                      </a:pPr>
                      <a:r>
                        <a:rPr lang="en-US" sz="900" b="1" dirty="0">
                          <a:solidFill>
                            <a:srgbClr val="12877C"/>
                          </a:solidFill>
                          <a:latin typeface="Calibri" pitchFamily="34" charset="0"/>
                          <a:ea typeface="Calibri" pitchFamily="34" charset="-122"/>
                          <a:cs typeface="Calibri" pitchFamily="34" charset="-120"/>
                        </a:rPr>
                        <a:t>94.6% coverage</a:t>
                      </a:r>
                      <a:endParaRPr lang="en-US" sz="12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900" dirty="0">
                          <a:solidFill>
                            <a:srgbClr val="1E293B"/>
                          </a:solidFill>
                          <a:latin typeface="Courier New" pitchFamily="34" charset="0"/>
                          <a:ea typeface="Courier New" pitchFamily="34" charset="-122"/>
                          <a:cs typeface="Courier New" pitchFamily="34" charset="-120"/>
                        </a:rPr>
                        <a:t>TR.TotalReturn</a:t>
                      </a:r>
                      <a:endParaRPr lang="en-US" sz="900" dirty="0">
                        <a:latin typeface="Courier New" charset="0"/>
                        <a:ea typeface="Courier New" charset="0"/>
                        <a:cs typeface="Courier New"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Daily log return, dividends included</a:t>
                      </a:r>
                      <a:endParaRPr lang="en-US" sz="10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Input of GARCH, GJR-GARCH and GARCH-LSTM, with ~5,200 daily points instead of 252; strategy returns Rₜ</a:t>
                      </a:r>
                      <a:endParaRPr lang="en-US" sz="10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512064">
                <a:tc>
                  <a:txBody>
                    <a:bodyPr/>
                    <a:lstStyle/>
                    <a:p>
                      <a:pPr indent="0" marL="0">
                        <a:buNone/>
                      </a:pPr>
                      <a:r>
                        <a:rPr lang="en-US" sz="1050" b="1" dirty="0">
                          <a:solidFill>
                            <a:srgbClr val="1E293B"/>
                          </a:solidFill>
                          <a:latin typeface="Calibri" pitchFamily="34" charset="0"/>
                          <a:ea typeface="Calibri" pitchFamily="34" charset="-122"/>
                          <a:cs typeface="Calibri" pitchFamily="34" charset="-120"/>
                        </a:rPr>
                        <a:t>Prices (OHLC)</a:t>
                      </a:r>
                      <a:endParaRPr lang="en-US" sz="1200" dirty="0">
                        <a:latin typeface="Calibri" charset="0"/>
                        <a:ea typeface="Calibri" charset="0"/>
                        <a:cs typeface="Calibri" charset="0"/>
                      </a:endParaRPr>
                    </a:p>
                    <a:p>
                      <a:pPr indent="0" marL="0">
                        <a:buNone/>
                      </a:pPr>
                      <a:r>
                        <a:rPr lang="en-US" sz="900" b="1" dirty="0">
                          <a:solidFill>
                            <a:srgbClr val="12877C"/>
                          </a:solidFill>
                          <a:latin typeface="Calibri" pitchFamily="34" charset="0"/>
                          <a:ea typeface="Calibri" pitchFamily="34" charset="-122"/>
                          <a:cs typeface="Calibri" pitchFamily="34" charset="-120"/>
                        </a:rPr>
                        <a:t>95.6% coverage</a:t>
                      </a:r>
                      <a:endParaRPr lang="en-US" sz="12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900" dirty="0">
                          <a:solidFill>
                            <a:srgbClr val="1E293B"/>
                          </a:solidFill>
                          <a:latin typeface="Courier New" pitchFamily="34" charset="0"/>
                          <a:ea typeface="Courier New" pitchFamily="34" charset="-122"/>
                          <a:cs typeface="Courier New" pitchFamily="34" charset="-120"/>
                        </a:rPr>
                        <a:t>OPEN_PRC, HIGH_1,</a:t>
                      </a:r>
                      <a:endParaRPr lang="en-US" sz="900" dirty="0">
                        <a:latin typeface="Courier New" charset="0"/>
                        <a:ea typeface="Courier New" charset="0"/>
                        <a:cs typeface="Courier New" charset="0"/>
                      </a:endParaRPr>
                    </a:p>
                    <a:p>
                      <a:pPr indent="0" marL="0">
                        <a:buNone/>
                      </a:pPr>
                      <a:r>
                        <a:rPr lang="en-US" sz="900" dirty="0">
                          <a:solidFill>
                            <a:srgbClr val="1E293B"/>
                          </a:solidFill>
                          <a:latin typeface="Courier New" pitchFamily="34" charset="0"/>
                          <a:ea typeface="Courier New" pitchFamily="34" charset="-122"/>
                          <a:cs typeface="Courier New" pitchFamily="34" charset="-120"/>
                        </a:rPr>
                        <a:t>LOW_1, TRDPRC_1</a:t>
                      </a:r>
                      <a:endParaRPr lang="en-US" sz="900" dirty="0">
                        <a:latin typeface="Courier New" charset="0"/>
                        <a:ea typeface="Courier New" charset="0"/>
                        <a:cs typeface="Courier New"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Parkinson and Garman-Klass daily variance, summed into monthly realized variance</a:t>
                      </a:r>
                      <a:endParaRPr lang="en-US" sz="10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Shows how turbulent each month really was: accuracy target for objective A and basis of the spike test</a:t>
                      </a:r>
                      <a:endParaRPr lang="en-US" sz="10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384048">
                <a:tc>
                  <a:txBody>
                    <a:bodyPr/>
                    <a:lstStyle/>
                    <a:p>
                      <a:pPr indent="0" marL="0">
                        <a:buNone/>
                      </a:pPr>
                      <a:r>
                        <a:rPr lang="en-US" sz="1050" b="1" dirty="0">
                          <a:solidFill>
                            <a:srgbClr val="1E293B"/>
                          </a:solidFill>
                          <a:latin typeface="Calibri" pitchFamily="34" charset="0"/>
                          <a:ea typeface="Calibri" pitchFamily="34" charset="-122"/>
                          <a:cs typeface="Calibri" pitchFamily="34" charset="-120"/>
                        </a:rPr>
                        <a:t>Quotes</a:t>
                      </a:r>
                      <a:endParaRPr lang="en-US" sz="1200" dirty="0">
                        <a:latin typeface="Calibri" charset="0"/>
                        <a:ea typeface="Calibri" charset="0"/>
                        <a:cs typeface="Calibri" charset="0"/>
                      </a:endParaRPr>
                    </a:p>
                    <a:p>
                      <a:pPr indent="0" marL="0">
                        <a:buNone/>
                      </a:pPr>
                      <a:r>
                        <a:rPr lang="en-US" sz="900" b="1" dirty="0">
                          <a:solidFill>
                            <a:srgbClr val="12877C"/>
                          </a:solidFill>
                          <a:latin typeface="Calibri" pitchFamily="34" charset="0"/>
                          <a:ea typeface="Calibri" pitchFamily="34" charset="-122"/>
                          <a:cs typeface="Calibri" pitchFamily="34" charset="-120"/>
                        </a:rPr>
                        <a:t>96.0% coverage</a:t>
                      </a:r>
                      <a:endParaRPr lang="en-US" sz="12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900" dirty="0">
                          <a:solidFill>
                            <a:srgbClr val="1E293B"/>
                          </a:solidFill>
                          <a:latin typeface="Courier New" pitchFamily="34" charset="0"/>
                          <a:ea typeface="Courier New" pitchFamily="34" charset="-122"/>
                          <a:cs typeface="Courier New" pitchFamily="34" charset="-120"/>
                        </a:rPr>
                        <a:t>BID, ASK</a:t>
                      </a:r>
                      <a:endParaRPr lang="en-US" sz="900" dirty="0">
                        <a:latin typeface="Courier New" charset="0"/>
                        <a:ea typeface="Courier New" charset="0"/>
                        <a:cs typeface="Courier New"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Relative spread (ask − bid) / mid</a:t>
                      </a:r>
                      <a:endParaRPr lang="en-US" sz="10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Trading-cost estimate for objective B (utility after costs)</a:t>
                      </a:r>
                      <a:endParaRPr lang="en-US" sz="10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384048">
                <a:tc>
                  <a:txBody>
                    <a:bodyPr/>
                    <a:lstStyle/>
                    <a:p>
                      <a:pPr indent="0" marL="0">
                        <a:buNone/>
                      </a:pPr>
                      <a:r>
                        <a:rPr lang="en-US" sz="1050" b="1" dirty="0">
                          <a:solidFill>
                            <a:srgbClr val="1E293B"/>
                          </a:solidFill>
                          <a:latin typeface="Calibri" pitchFamily="34" charset="0"/>
                          <a:ea typeface="Calibri" pitchFamily="34" charset="-122"/>
                          <a:cs typeface="Calibri" pitchFamily="34" charset="-120"/>
                        </a:rPr>
                        <a:t>Volume</a:t>
                      </a:r>
                      <a:endParaRPr lang="en-US" sz="1200" dirty="0">
                        <a:latin typeface="Calibri" charset="0"/>
                        <a:ea typeface="Calibri" charset="0"/>
                        <a:cs typeface="Calibri" charset="0"/>
                      </a:endParaRPr>
                    </a:p>
                    <a:p>
                      <a:pPr indent="0" marL="0">
                        <a:buNone/>
                      </a:pPr>
                      <a:r>
                        <a:rPr lang="en-US" sz="900" b="1" dirty="0">
                          <a:solidFill>
                            <a:srgbClr val="12877C"/>
                          </a:solidFill>
                          <a:latin typeface="Calibri" pitchFamily="34" charset="0"/>
                          <a:ea typeface="Calibri" pitchFamily="34" charset="-122"/>
                          <a:cs typeface="Calibri" pitchFamily="34" charset="-120"/>
                        </a:rPr>
                        <a:t>95.6% coverage</a:t>
                      </a:r>
                      <a:endParaRPr lang="en-US" sz="12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900" dirty="0">
                          <a:solidFill>
                            <a:srgbClr val="1E293B"/>
                          </a:solidFill>
                          <a:latin typeface="Courier New" pitchFamily="34" charset="0"/>
                          <a:ea typeface="Courier New" pitchFamily="34" charset="-122"/>
                          <a:cs typeface="Courier New" pitchFamily="34" charset="-120"/>
                        </a:rPr>
                        <a:t>ACVOL_UNS</a:t>
                      </a:r>
                      <a:endParaRPr lang="en-US" sz="900" dirty="0">
                        <a:latin typeface="Courier New" charset="0"/>
                        <a:ea typeface="Courier New" charset="0"/>
                        <a:cs typeface="Courier New"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Log volume</a:t>
                      </a:r>
                      <a:endParaRPr lang="en-US" sz="10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Liquidity check; candidate input for the LSTM part</a:t>
                      </a:r>
                      <a:endParaRPr lang="en-US" sz="10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75488">
                <a:tc>
                  <a:txBody>
                    <a:bodyPr/>
                    <a:lstStyle/>
                    <a:p>
                      <a:pPr indent="0" marL="0">
                        <a:buNone/>
                      </a:pPr>
                      <a:r>
                        <a:rPr lang="en-US" sz="1050" b="1" dirty="0">
                          <a:solidFill>
                            <a:srgbClr val="1E293B"/>
                          </a:solidFill>
                          <a:latin typeface="Calibri" pitchFamily="34" charset="0"/>
                          <a:ea typeface="Calibri" pitchFamily="34" charset="-122"/>
                          <a:cs typeface="Calibri" pitchFamily="34" charset="-120"/>
                        </a:rPr>
                        <a:t>Size</a:t>
                      </a:r>
                      <a:endParaRPr lang="en-US" sz="1200" dirty="0">
                        <a:latin typeface="Calibri" charset="0"/>
                        <a:ea typeface="Calibri" charset="0"/>
                        <a:cs typeface="Calibri" charset="0"/>
                      </a:endParaRPr>
                    </a:p>
                    <a:p>
                      <a:pPr indent="0" marL="0">
                        <a:buNone/>
                      </a:pPr>
                      <a:r>
                        <a:rPr lang="en-US" sz="900" b="1" dirty="0">
                          <a:solidFill>
                            <a:srgbClr val="12877C"/>
                          </a:solidFill>
                          <a:latin typeface="Calibri" pitchFamily="34" charset="0"/>
                          <a:ea typeface="Calibri" pitchFamily="34" charset="-122"/>
                          <a:cs typeface="Calibri" pitchFamily="34" charset="-120"/>
                        </a:rPr>
                        <a:t>99.4% coverage</a:t>
                      </a:r>
                      <a:endParaRPr lang="en-US" sz="12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900" dirty="0">
                          <a:solidFill>
                            <a:srgbClr val="1E293B"/>
                          </a:solidFill>
                          <a:latin typeface="Courier New" pitchFamily="34" charset="0"/>
                          <a:ea typeface="Courier New" pitchFamily="34" charset="-122"/>
                          <a:cs typeface="Courier New" pitchFamily="34" charset="-120"/>
                        </a:rPr>
                        <a:t>TR.CompanyMarket-</a:t>
                      </a:r>
                      <a:endParaRPr lang="en-US" sz="900" dirty="0">
                        <a:latin typeface="Courier New" charset="0"/>
                        <a:ea typeface="Courier New" charset="0"/>
                        <a:cs typeface="Courier New" charset="0"/>
                      </a:endParaRPr>
                    </a:p>
                    <a:p>
                      <a:pPr indent="0" marL="0">
                        <a:buNone/>
                      </a:pPr>
                      <a:r>
                        <a:rPr lang="en-US" sz="900" dirty="0">
                          <a:solidFill>
                            <a:srgbClr val="1E293B"/>
                          </a:solidFill>
                          <a:latin typeface="Courier New" pitchFamily="34" charset="0"/>
                          <a:ea typeface="Courier New" pitchFamily="34" charset="-122"/>
                          <a:cs typeface="Courier New" pitchFamily="34" charset="-120"/>
                        </a:rPr>
                        <a:t>Capitalization</a:t>
                      </a:r>
                      <a:endParaRPr lang="en-US" sz="900" dirty="0">
                        <a:latin typeface="Courier New" charset="0"/>
                        <a:ea typeface="Courier New" charset="0"/>
                        <a:cs typeface="Courier New"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Market cap, Small / Mid / Large class, universe flag from the cap of t−1</a:t>
                      </a:r>
                      <a:endParaRPr lang="en-US" sz="10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Value weights for the risky portfolio; point-in-time universe, so no look-ahead</a:t>
                      </a:r>
                      <a:endParaRPr lang="en-US" sz="10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75488">
                <a:tc>
                  <a:txBody>
                    <a:bodyPr/>
                    <a:lstStyle/>
                    <a:p>
                      <a:pPr indent="0" marL="0">
                        <a:buNone/>
                      </a:pPr>
                      <a:r>
                        <a:rPr lang="en-US" sz="1050" b="1" dirty="0">
                          <a:solidFill>
                            <a:srgbClr val="1E293B"/>
                          </a:solidFill>
                          <a:latin typeface="Calibri" pitchFamily="34" charset="0"/>
                          <a:ea typeface="Calibri" pitchFamily="34" charset="-122"/>
                          <a:cs typeface="Calibri" pitchFamily="34" charset="-120"/>
                        </a:rPr>
                        <a:t>Market</a:t>
                      </a:r>
                      <a:endParaRPr lang="en-US" sz="1200" dirty="0">
                        <a:latin typeface="Calibri" charset="0"/>
                        <a:ea typeface="Calibri" charset="0"/>
                        <a:cs typeface="Calibri" charset="0"/>
                      </a:endParaRPr>
                    </a:p>
                    <a:p>
                      <a:pPr indent="0" marL="0">
                        <a:buNone/>
                      </a:pPr>
                      <a:r>
                        <a:rPr lang="en-US" sz="900" b="1" dirty="0">
                          <a:solidFill>
                            <a:srgbClr val="12877C"/>
                          </a:solidFill>
                          <a:latin typeface="Calibri" pitchFamily="34" charset="0"/>
                          <a:ea typeface="Calibri" pitchFamily="34" charset="-122"/>
                          <a:cs typeface="Calibri" pitchFamily="34" charset="-120"/>
                        </a:rPr>
                        <a:t>99.9% coverage</a:t>
                      </a:r>
                      <a:endParaRPr lang="en-US" sz="12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900" dirty="0">
                          <a:solidFill>
                            <a:srgbClr val="1E293B"/>
                          </a:solidFill>
                          <a:latin typeface="Courier New" pitchFamily="34" charset="0"/>
                          <a:ea typeface="Courier New" pitchFamily="34" charset="-122"/>
                          <a:cs typeface="Courier New" pitchFamily="34" charset="-120"/>
                        </a:rPr>
                        <a:t>.SPXTR, .RUTTR,</a:t>
                      </a:r>
                      <a:endParaRPr lang="en-US" sz="900" dirty="0">
                        <a:latin typeface="Courier New" charset="0"/>
                        <a:ea typeface="Courier New" charset="0"/>
                        <a:cs typeface="Courier New" charset="0"/>
                      </a:endParaRPr>
                    </a:p>
                    <a:p>
                      <a:pPr indent="0" marL="0">
                        <a:buNone/>
                      </a:pPr>
                      <a:r>
                        <a:rPr lang="en-US" sz="900" dirty="0">
                          <a:solidFill>
                            <a:srgbClr val="1E293B"/>
                          </a:solidFill>
                          <a:latin typeface="Courier New" pitchFamily="34" charset="0"/>
                          <a:ea typeface="Courier New" pitchFamily="34" charset="-122"/>
                          <a:cs typeface="Courier New" pitchFamily="34" charset="-120"/>
                        </a:rPr>
                        <a:t>.SPX, .RUT, .VIX</a:t>
                      </a:r>
                      <a:endParaRPr lang="en-US" sz="900" dirty="0">
                        <a:latin typeface="Courier New" charset="0"/>
                        <a:ea typeface="Courier New" charset="0"/>
                        <a:cs typeface="Courier New"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Index returns (total return and price), VIX</a:t>
                      </a:r>
                      <a:endParaRPr lang="en-US" sz="10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Unmanaged benchmarks for the managed portfolio; VIX as a forward-looking input</a:t>
                      </a:r>
                      <a:endParaRPr lang="en-US" sz="1000" dirty="0">
                        <a:latin typeface="Calibri" charset="0"/>
                        <a:ea typeface="Calibri" charset="0"/>
                        <a:cs typeface="Calibri" charset="0"/>
                      </a:endParaRPr>
                    </a:p>
                  </a:txBody>
                  <a:tcPr marL="76200" marR="76200" marT="38100" marB="3810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bl>
          </a:graphicData>
        </a:graphic>
      </p:graphicFrame>
      <p:sp>
        <p:nvSpPr>
          <p:cNvPr id="4" name="Shape 1"/>
          <p:cNvSpPr/>
          <p:nvPr/>
        </p:nvSpPr>
        <p:spPr>
          <a:xfrm>
            <a:off x="457200" y="4087368"/>
            <a:ext cx="8229600" cy="777240"/>
          </a:xfrm>
          <a:prstGeom prst="roundRect">
            <a:avLst>
              <a:gd name="adj" fmla="val 7059"/>
            </a:avLst>
          </a:prstGeom>
          <a:solidFill>
            <a:srgbClr val="EEF3F6"/>
          </a:solidFill>
          <a:ln w="12700">
            <a:solidFill>
              <a:srgbClr val="EEF3F6"/>
            </a:solidFill>
            <a:prstDash val="solid"/>
          </a:ln>
        </p:spPr>
      </p:sp>
      <p:sp>
        <p:nvSpPr>
          <p:cNvPr id="5" name="Text 2"/>
          <p:cNvSpPr txBox="1"/>
          <p:nvPr/>
        </p:nvSpPr>
        <p:spPr>
          <a:xfrm>
            <a:off x="640080" y="4133088"/>
            <a:ext cx="2926080" cy="548640"/>
          </a:xfrm>
          <a:prstGeom prst="rect">
            <a:avLst/>
          </a:prstGeom>
          <a:noFill/>
          <a:ln/>
        </p:spPr>
        <p:txBody>
          <a:bodyPr wrap="square" lIns="0" tIns="0" rIns="0" bIns="0" rtlCol="0" anchor="ctr"/>
          <a:lstStyle/>
          <a:p>
            <a:pPr indent="0" marL="0">
              <a:buNone/>
            </a:pPr>
            <a:r>
              <a:rPr lang="en-US" sz="1100" b="1" dirty="0">
                <a:solidFill>
                  <a:srgbClr val="0F1B2D"/>
                </a:solidFill>
                <a:latin typeface="Calibri" pitchFamily="34" charset="0"/>
                <a:ea typeface="Calibri" pitchFamily="34" charset="-122"/>
                <a:cs typeface="Calibri" pitchFamily="34" charset="-120"/>
              </a:rPr>
              <a:t>Parkinson (1980)</a:t>
            </a:r>
            <a:endParaRPr lang="en-US" sz="1100" dirty="0"/>
          </a:p>
          <a:p>
            <a:pPr indent="0" marL="0">
              <a:buNone/>
            </a:pPr>
            <a:r>
              <a:rPr lang="en-US" sz="1300" dirty="0">
                <a:solidFill>
                  <a:srgbClr val="1E293B"/>
                </a:solidFill>
                <a:latin typeface="Cambria Math" pitchFamily="34" charset="0"/>
                <a:ea typeface="Cambria Math" pitchFamily="34" charset="-122"/>
                <a:cs typeface="Cambria Math" pitchFamily="34" charset="-120"/>
              </a:rPr>
              <a:t>σ²ₚ = [ln(H/L)]² / (4 ln 2)</a:t>
            </a:r>
            <a:endParaRPr lang="en-US" sz="1100" dirty="0"/>
          </a:p>
        </p:txBody>
      </p:sp>
      <p:sp>
        <p:nvSpPr>
          <p:cNvPr id="6" name="Text 3"/>
          <p:cNvSpPr txBox="1"/>
          <p:nvPr/>
        </p:nvSpPr>
        <p:spPr>
          <a:xfrm>
            <a:off x="3657600" y="4133088"/>
            <a:ext cx="4846320" cy="548640"/>
          </a:xfrm>
          <a:prstGeom prst="rect">
            <a:avLst/>
          </a:prstGeom>
          <a:noFill/>
          <a:ln/>
        </p:spPr>
        <p:txBody>
          <a:bodyPr wrap="square" lIns="0" tIns="0" rIns="0" bIns="0" rtlCol="0" anchor="ctr"/>
          <a:lstStyle/>
          <a:p>
            <a:pPr indent="0" marL="0">
              <a:buNone/>
            </a:pPr>
            <a:r>
              <a:rPr lang="en-US" sz="1100" b="1" dirty="0">
                <a:solidFill>
                  <a:srgbClr val="0F1B2D"/>
                </a:solidFill>
                <a:latin typeface="Calibri" pitchFamily="34" charset="0"/>
                <a:ea typeface="Calibri" pitchFamily="34" charset="-122"/>
                <a:cs typeface="Calibri" pitchFamily="34" charset="-120"/>
              </a:rPr>
              <a:t>Garman-Klass (1980)</a:t>
            </a:r>
            <a:endParaRPr lang="en-US" sz="1100" dirty="0"/>
          </a:p>
          <a:p>
            <a:pPr indent="0" marL="0">
              <a:buNone/>
            </a:pPr>
            <a:r>
              <a:rPr lang="en-US" sz="1300" dirty="0">
                <a:solidFill>
                  <a:srgbClr val="1E293B"/>
                </a:solidFill>
                <a:latin typeface="Cambria Math" pitchFamily="34" charset="0"/>
                <a:ea typeface="Cambria Math" pitchFamily="34" charset="-122"/>
                <a:cs typeface="Cambria Math" pitchFamily="34" charset="-120"/>
              </a:rPr>
              <a:t>σ²ɢᴋ = ½ [ln(H/L)]² − (2 ln 2 − 1) [ln(C/O)]²</a:t>
            </a:r>
            <a:endParaRPr lang="en-US" sz="1100" dirty="0"/>
          </a:p>
        </p:txBody>
      </p:sp>
      <p:sp>
        <p:nvSpPr>
          <p:cNvPr id="7" name="Text 4"/>
          <p:cNvSpPr txBox="1"/>
          <p:nvPr/>
        </p:nvSpPr>
        <p:spPr>
          <a:xfrm>
            <a:off x="640080" y="4645152"/>
            <a:ext cx="7863840" cy="201168"/>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O, H, L, C: open, high, low and close of the day. Daily variances are summed within each month.</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rgbClr val="0F1B2D"/>
                </a:solidFill>
                <a:latin typeface="Cambria" pitchFamily="34" charset="0"/>
                <a:ea typeface="Cambria" pitchFamily="34" charset="-122"/>
                <a:cs typeface="Cambria" pitchFamily="34" charset="-120"/>
              </a:rPr>
              <a:t>Enough volatility spikes to test re-entry</a:t>
            </a:r>
            <a:endParaRPr lang="en-US" sz="2600" dirty="0"/>
          </a:p>
        </p:txBody>
      </p:sp>
      <p:graphicFrame>
        <p:nvGraphicFramePr>
          <p:cNvPr id="3" name="Chart 0" descr=""/>
          <p:cNvGraphicFramePr/>
          <p:nvPr/>
        </p:nvGraphicFramePr>
        <p:xfrm>
          <a:off x="320040" y="914400"/>
          <a:ext cx="5074920" cy="33832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343400"/>
            <a:ext cx="484632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Monthly averages from the daily panel. Correlation with the VIX: 0.93.</a:t>
            </a:r>
            <a:endParaRPr lang="en-US" sz="900" dirty="0"/>
          </a:p>
        </p:txBody>
      </p:sp>
      <p:sp>
        <p:nvSpPr>
          <p:cNvPr id="5" name="Text 2"/>
          <p:cNvSpPr txBox="1"/>
          <p:nvPr/>
        </p:nvSpPr>
        <p:spPr>
          <a:xfrm>
            <a:off x="5669280" y="914400"/>
            <a:ext cx="3017520" cy="32004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Next steps</a:t>
            </a:r>
            <a:endParaRPr lang="en-US" sz="1800" dirty="0"/>
          </a:p>
        </p:txBody>
      </p:sp>
      <p:sp>
        <p:nvSpPr>
          <p:cNvPr id="6" name="Shape 3"/>
          <p:cNvSpPr/>
          <p:nvPr/>
        </p:nvSpPr>
        <p:spPr>
          <a:xfrm>
            <a:off x="5669280" y="1325880"/>
            <a:ext cx="310896" cy="310896"/>
          </a:xfrm>
          <a:prstGeom prst="ellipse">
            <a:avLst/>
          </a:prstGeom>
          <a:solidFill>
            <a:srgbClr val="0F1B2D"/>
          </a:solidFill>
          <a:ln w="12700">
            <a:solidFill>
              <a:srgbClr val="0F1B2D"/>
            </a:solidFill>
            <a:prstDash val="solid"/>
          </a:ln>
        </p:spPr>
      </p:sp>
      <p:sp>
        <p:nvSpPr>
          <p:cNvPr id="7" name="Text 4"/>
          <p:cNvSpPr txBox="1"/>
          <p:nvPr/>
        </p:nvSpPr>
        <p:spPr>
          <a:xfrm>
            <a:off x="5669280" y="13258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6108192" y="1289304"/>
            <a:ext cx="2606040" cy="749808"/>
          </a:xfrm>
          <a:prstGeom prst="rect">
            <a:avLst/>
          </a:prstGeom>
          <a:noFill/>
          <a:ln/>
        </p:spPr>
        <p:txBody>
          <a:bodyPr wrap="square" lIns="0" tIns="0" rIns="0" bIns="0" rtlCol="0" anchor="t"/>
          <a:lstStyle/>
          <a:p>
            <a:pPr indent="0" marL="0">
              <a:buNone/>
            </a:pPr>
            <a:r>
              <a:rPr lang="en-US" sz="1200" b="1" dirty="0">
                <a:solidFill>
                  <a:srgbClr val="0F1B2D"/>
                </a:solidFill>
                <a:latin typeface="Calibri" pitchFamily="34" charset="0"/>
                <a:ea typeface="Calibri" pitchFamily="34" charset="-122"/>
                <a:cs typeface="Calibri" pitchFamily="34" charset="-120"/>
              </a:rPr>
              <a:t>Finish GARCH(1,1)</a:t>
            </a:r>
            <a:endParaRPr lang="en-US" sz="1200" dirty="0"/>
          </a:p>
          <a:p>
            <a:pPr indent="0" marL="0">
              <a:buNone/>
            </a:pPr>
            <a:r>
              <a:rPr lang="en-US" sz="1000" dirty="0">
                <a:solidFill>
                  <a:srgbClr val="1E293B"/>
                </a:solidFill>
                <a:latin typeface="Calibri" pitchFamily="34" charset="0"/>
                <a:ea typeface="Calibri" pitchFamily="34" charset="-122"/>
                <a:cs typeface="Calibri" pitchFamily="34" charset="-120"/>
              </a:rPr>
              <a:t>Estimate it on the daily data under objective A, then add objective B.</a:t>
            </a:r>
            <a:endParaRPr lang="en-US" sz="1200" dirty="0"/>
          </a:p>
        </p:txBody>
      </p:sp>
      <p:sp>
        <p:nvSpPr>
          <p:cNvPr id="9" name="Shape 6"/>
          <p:cNvSpPr/>
          <p:nvPr/>
        </p:nvSpPr>
        <p:spPr>
          <a:xfrm>
            <a:off x="5669280" y="2112264"/>
            <a:ext cx="310896" cy="310896"/>
          </a:xfrm>
          <a:prstGeom prst="ellipse">
            <a:avLst/>
          </a:prstGeom>
          <a:solidFill>
            <a:srgbClr val="0F1B2D"/>
          </a:solidFill>
          <a:ln w="12700">
            <a:solidFill>
              <a:srgbClr val="0F1B2D"/>
            </a:solidFill>
            <a:prstDash val="solid"/>
          </a:ln>
        </p:spPr>
      </p:sp>
      <p:sp>
        <p:nvSpPr>
          <p:cNvPr id="10" name="Text 7"/>
          <p:cNvSpPr txBox="1"/>
          <p:nvPr/>
        </p:nvSpPr>
        <p:spPr>
          <a:xfrm>
            <a:off x="5669280" y="21122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8"/>
          <p:cNvSpPr txBox="1"/>
          <p:nvPr/>
        </p:nvSpPr>
        <p:spPr>
          <a:xfrm>
            <a:off x="6108192" y="2075688"/>
            <a:ext cx="2606040" cy="749808"/>
          </a:xfrm>
          <a:prstGeom prst="rect">
            <a:avLst/>
          </a:prstGeom>
          <a:noFill/>
          <a:ln/>
        </p:spPr>
        <p:txBody>
          <a:bodyPr wrap="square" lIns="0" tIns="0" rIns="0" bIns="0" rtlCol="0" anchor="t"/>
          <a:lstStyle/>
          <a:p>
            <a:pPr indent="0" marL="0">
              <a:buNone/>
            </a:pPr>
            <a:r>
              <a:rPr lang="en-US" sz="1200" b="1" dirty="0">
                <a:solidFill>
                  <a:srgbClr val="0F1B2D"/>
                </a:solidFill>
                <a:latin typeface="Calibri" pitchFamily="34" charset="0"/>
                <a:ea typeface="Calibri" pitchFamily="34" charset="-122"/>
                <a:cs typeface="Calibri" pitchFamily="34" charset="-120"/>
              </a:rPr>
              <a:t>GJR-GARCH, then GARCH-LSTM</a:t>
            </a:r>
            <a:endParaRPr lang="en-US" sz="1200" dirty="0"/>
          </a:p>
          <a:p>
            <a:pPr indent="0" marL="0">
              <a:buNone/>
            </a:pPr>
            <a:r>
              <a:rPr lang="en-US" sz="1000" dirty="0">
                <a:solidFill>
                  <a:srgbClr val="1E293B"/>
                </a:solidFill>
                <a:latin typeface="Calibri" pitchFamily="34" charset="0"/>
                <a:ea typeface="Calibri" pitchFamily="34" charset="-122"/>
                <a:cs typeface="Calibri" pitchFamily="34" charset="-120"/>
              </a:rPr>
              <a:t>Same data and trading rule, both objectives, so the six versions stay comparable.</a:t>
            </a:r>
            <a:endParaRPr lang="en-US" sz="1200" dirty="0"/>
          </a:p>
        </p:txBody>
      </p:sp>
      <p:sp>
        <p:nvSpPr>
          <p:cNvPr id="12" name="Shape 9"/>
          <p:cNvSpPr/>
          <p:nvPr/>
        </p:nvSpPr>
        <p:spPr>
          <a:xfrm>
            <a:off x="5669280" y="2898648"/>
            <a:ext cx="310896" cy="310896"/>
          </a:xfrm>
          <a:prstGeom prst="ellipse">
            <a:avLst/>
          </a:prstGeom>
          <a:solidFill>
            <a:srgbClr val="0F1B2D"/>
          </a:solidFill>
          <a:ln w="12700">
            <a:solidFill>
              <a:srgbClr val="0F1B2D"/>
            </a:solidFill>
            <a:prstDash val="solid"/>
          </a:ln>
        </p:spPr>
      </p:sp>
      <p:sp>
        <p:nvSpPr>
          <p:cNvPr id="13" name="Text 10"/>
          <p:cNvSpPr txBox="1"/>
          <p:nvPr/>
        </p:nvSpPr>
        <p:spPr>
          <a:xfrm>
            <a:off x="5669280" y="28986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1"/>
          <p:cNvSpPr txBox="1"/>
          <p:nvPr/>
        </p:nvSpPr>
        <p:spPr>
          <a:xfrm>
            <a:off x="6108192" y="2862072"/>
            <a:ext cx="2606040" cy="749808"/>
          </a:xfrm>
          <a:prstGeom prst="rect">
            <a:avLst/>
          </a:prstGeom>
          <a:noFill/>
          <a:ln/>
        </p:spPr>
        <p:txBody>
          <a:bodyPr wrap="square" lIns="0" tIns="0" rIns="0" bIns="0" rtlCol="0" anchor="t"/>
          <a:lstStyle/>
          <a:p>
            <a:pPr indent="0" marL="0">
              <a:buNone/>
            </a:pPr>
            <a:r>
              <a:rPr lang="en-US" sz="1200" b="1" dirty="0">
                <a:solidFill>
                  <a:srgbClr val="0F1B2D"/>
                </a:solidFill>
                <a:latin typeface="Calibri" pitchFamily="34" charset="0"/>
                <a:ea typeface="Calibri" pitchFamily="34" charset="-122"/>
                <a:cs typeface="Calibri" pitchFamily="34" charset="-120"/>
              </a:rPr>
              <a:t>Align the sample</a:t>
            </a:r>
            <a:endParaRPr lang="en-US" sz="1200" dirty="0"/>
          </a:p>
          <a:p>
            <a:pPr indent="0" marL="0">
              <a:buNone/>
            </a:pPr>
            <a:r>
              <a:rPr lang="en-US" sz="1000" dirty="0">
                <a:solidFill>
                  <a:srgbClr val="1E293B"/>
                </a:solidFill>
                <a:latin typeface="Calibri" pitchFamily="34" charset="0"/>
                <a:ea typeface="Calibri" pitchFamily="34" charset="-122"/>
                <a:cs typeface="Calibri" pitchFamily="34" charset="-120"/>
              </a:rPr>
              <a:t>Course data covers 2000–2020, the daily panel 2006–2026: fix the build and trading windows.</a:t>
            </a:r>
            <a:endParaRPr lang="en-US" sz="1200" dirty="0"/>
          </a:p>
        </p:txBody>
      </p:sp>
      <p:sp>
        <p:nvSpPr>
          <p:cNvPr id="15" name="Shape 12"/>
          <p:cNvSpPr/>
          <p:nvPr/>
        </p:nvSpPr>
        <p:spPr>
          <a:xfrm>
            <a:off x="5669280" y="3685032"/>
            <a:ext cx="310896" cy="310896"/>
          </a:xfrm>
          <a:prstGeom prst="ellipse">
            <a:avLst/>
          </a:prstGeom>
          <a:solidFill>
            <a:srgbClr val="0F1B2D"/>
          </a:solidFill>
          <a:ln w="12700">
            <a:solidFill>
              <a:srgbClr val="0F1B2D"/>
            </a:solidFill>
            <a:prstDash val="solid"/>
          </a:ln>
        </p:spPr>
      </p:sp>
      <p:sp>
        <p:nvSpPr>
          <p:cNvPr id="16" name="Text 13"/>
          <p:cNvSpPr txBox="1"/>
          <p:nvPr/>
        </p:nvSpPr>
        <p:spPr>
          <a:xfrm>
            <a:off x="5669280" y="36850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4"/>
          <p:cNvSpPr txBox="1"/>
          <p:nvPr/>
        </p:nvSpPr>
        <p:spPr>
          <a:xfrm>
            <a:off x="6108192" y="3648456"/>
            <a:ext cx="2606040" cy="749808"/>
          </a:xfrm>
          <a:prstGeom prst="rect">
            <a:avLst/>
          </a:prstGeom>
          <a:noFill/>
          <a:ln/>
        </p:spPr>
        <p:txBody>
          <a:bodyPr wrap="square" lIns="0" tIns="0" rIns="0" bIns="0" rtlCol="0" anchor="t"/>
          <a:lstStyle/>
          <a:p>
            <a:pPr indent="0" marL="0">
              <a:buNone/>
            </a:pPr>
            <a:r>
              <a:rPr lang="en-US" sz="1200" b="1" dirty="0">
                <a:solidFill>
                  <a:srgbClr val="0F1B2D"/>
                </a:solidFill>
                <a:latin typeface="Calibri" pitchFamily="34" charset="0"/>
                <a:ea typeface="Calibri" pitchFamily="34" charset="-122"/>
                <a:cs typeface="Calibri" pitchFamily="34" charset="-120"/>
              </a:rPr>
              <a:t>Limit survivorship bias</a:t>
            </a:r>
            <a:endParaRPr lang="en-US" sz="1200" dirty="0"/>
          </a:p>
          <a:p>
            <a:pPr indent="0" marL="0">
              <a:buNone/>
            </a:pPr>
            <a:r>
              <a:rPr lang="en-US" sz="1000" dirty="0">
                <a:solidFill>
                  <a:srgbClr val="1E293B"/>
                </a:solidFill>
                <a:latin typeface="Calibri" pitchFamily="34" charset="0"/>
                <a:ea typeface="Calibri" pitchFamily="34" charset="-122"/>
                <a:cs typeface="Calibri" pitchFamily="34" charset="-120"/>
              </a:rPr>
              <a:t>The screen keeps firms listed today (1,085 in 2006 vs 3,063 in 2026): add delisted names.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Decision-Focused Volatility Timing — progress update</dc:title>
  <dc:subject>PptxGenJS Presentation</dc:subject>
  <dc:creator>PptxGenJS</dc:creator>
  <cp:lastModifiedBy>PptxGenJS</cp:lastModifiedBy>
  <cp:revision>1</cp:revision>
  <dcterms:created xsi:type="dcterms:W3CDTF">2026-09-28T01:48:51Z</dcterms:created>
  <dcterms:modified xsi:type="dcterms:W3CDTF">2026-09-28T01:48:51Z</dcterms:modified>
</cp:coreProperties>
</file>